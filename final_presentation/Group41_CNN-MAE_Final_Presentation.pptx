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Scratch</c:v>
                </c:pt>
              </c:strCache>
            </c:strRef>
          </c:tx>
          <c:spPr>
            <a:ln w="31750">
              <a:solidFill>
                <a:srgbClr val="2A78D6"/>
              </a:solidFill>
            </a:ln>
          </c:spPr>
          <c:marker>
            <c:symbol val="circle"/>
            <c:size val="8"/>
            <c:spPr>
              <a:solidFill>
                <a:srgbClr val="2A78D6"/>
              </a:solidFill>
              <a:ln>
                <a:solidFill>
                  <a:srgbClr val="2A78D6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1%</c:v>
                </c:pt>
                <c:pt idx="1">
                  <c:v>5%</c:v>
                </c:pt>
                <c:pt idx="2">
                  <c:v>10%</c:v>
                </c:pt>
                <c:pt idx="3">
                  <c:v>25%</c:v>
                </c:pt>
                <c:pt idx="4">
                  <c:v>100%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0.2577</c:v>
                </c:pt>
                <c:pt idx="1">
                  <c:v>0.3199</c:v>
                </c:pt>
                <c:pt idx="2">
                  <c:v>0.3583</c:v>
                </c:pt>
                <c:pt idx="3">
                  <c:v>0.363</c:v>
                </c:pt>
                <c:pt idx="4">
                  <c:v>0.3821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CNN-MAE</c:v>
                </c:pt>
              </c:strCache>
            </c:strRef>
          </c:tx>
          <c:spPr>
            <a:ln w="31750">
              <a:solidFill>
                <a:srgbClr val="EB6834"/>
              </a:solidFill>
            </a:ln>
          </c:spPr>
          <c:marker>
            <c:symbol val="square"/>
            <c:size val="8"/>
            <c:spPr>
              <a:solidFill>
                <a:srgbClr val="EB6834"/>
              </a:solidFill>
              <a:ln>
                <a:solidFill>
                  <a:srgbClr val="EB6834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1%</c:v>
                </c:pt>
                <c:pt idx="1">
                  <c:v>5%</c:v>
                </c:pt>
                <c:pt idx="2">
                  <c:v>10%</c:v>
                </c:pt>
                <c:pt idx="3">
                  <c:v>25%</c:v>
                </c:pt>
                <c:pt idx="4">
                  <c:v>100%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0.2566</c:v>
                </c:pt>
                <c:pt idx="1">
                  <c:v>0.332</c:v>
                </c:pt>
                <c:pt idx="2">
                  <c:v>0.3571</c:v>
                </c:pt>
                <c:pt idx="3">
                  <c:v>0.3629</c:v>
                </c:pt>
                <c:pt idx="4">
                  <c:v>0.3838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200"/>
                  <a:t>Labelled fraction of the training split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0.4"/>
          <c:min val="0.2"/>
        </c:scaling>
        <c:delete val="0"/>
        <c:axPos val="l"/>
        <c:majorGridlines>
          <c:spPr>
            <a:ln>
              <a:solidFill>
                <a:srgbClr val="E3E6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/>
                  <a:t>Test macro-F1</a:t>
                </a:r>
              </a:p>
            </c:rich>
          </c:tx>
          <c:layout/>
          <c:overlay val="0"/>
        </c:title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18791784"/>
        <c:crosses val="autoZero"/>
        <c:majorUnit val="0.05"/>
      </c:valAx>
    </c:plotArea>
    <c:legend>
      <c:legendPos val="t"/>
      <c:layout/>
      <c:overlay val="0"/>
      <c:txPr>
        <a:bodyPr/>
        <a:lstStyle/>
        <a:p>
          <a:pPr>
            <a:defRPr sz="1300"/>
          </a:pPr>
        </a:p>
      </c:txPr>
    </c:legend>
    <c:plotVisOnly val="1"/>
    <c:dispBlanksAs val="gap"/>
    <c:showDLblsOverMax val="0"/>
  </c:chart>
  <c:txPr>
    <a:bodyPr/>
    <a:lstStyle/>
    <a:p>
      <a:pPr>
        <a:defRPr sz="1800"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team and the question: does masked-autoencoder pretraining on raw radio signals help when labels are scarce?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AMC is used in spectrum monitoring and cognitive radio. Labelling is the bottleneck; low SNR is the hard regime.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explicit that the linear probe and the reconstruction-vs-accuracy link were planned but not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Kong 2023, Xiao 2024 (MCLHN) and Ma 2024 are in the reference list: contrastive or pseudo-label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Built from src/models/cnn.py, src/models/cnn_mae.py and experiments/train_classifier.py.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Values from final_artifacts/tables/primary_summary.csv (recomputed from C:/dlruns/results). Accuracy deltas in the last column.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Band means from final_artifacts/tables/primary_per_snr_accuracy.csv (mean over seeds; pp = percentage points).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100-epoch runs were trained anew (not continued). Seed 44 favours scratch by -0.0214 at 100 epochs, which flips the mean.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ignal panel"/>
          <p:cNvSpPr/>
          <p:nvPr/>
        </p:nvSpPr>
        <p:spPr>
          <a:xfrm>
            <a:off x="6720840" y="0"/>
            <a:ext cx="5470855" cy="6858000"/>
          </a:xfrm>
          <a:prstGeom prst="rect">
            <a:avLst/>
          </a:prstGeom>
          <a:solidFill>
            <a:srgbClr val="F2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 trace"/>
          <p:cNvSpPr/>
          <p:nvPr/>
        </p:nvSpPr>
        <p:spPr>
          <a:xfrm>
            <a:off x="7086600" y="1489316"/>
            <a:ext cx="4754880" cy="1373285"/>
          </a:xfrm>
          <a:custGeom>
            <a:avLst/>
            <a:gdLst/>
            <a:ahLst/>
            <a:cxnLst/>
            <a:rect l="l" t="t" r="r" b="b"/>
            <a:pathLst>
              <a:path w="4754880" h="1373285">
                <a:moveTo>
                  <a:pt x="0" y="1044085"/>
                </a:moveTo>
                <a:lnTo>
                  <a:pt x="29904" y="1041294"/>
                </a:lnTo>
                <a:lnTo>
                  <a:pt x="59809" y="1040174"/>
                </a:lnTo>
                <a:lnTo>
                  <a:pt x="89714" y="1041045"/>
                </a:lnTo>
                <a:lnTo>
                  <a:pt x="119619" y="1046171"/>
                </a:lnTo>
                <a:lnTo>
                  <a:pt x="149524" y="1057299"/>
                </a:lnTo>
                <a:lnTo>
                  <a:pt x="179429" y="1074383"/>
                </a:lnTo>
                <a:lnTo>
                  <a:pt x="209334" y="1097251"/>
                </a:lnTo>
                <a:lnTo>
                  <a:pt x="239239" y="1125049"/>
                </a:lnTo>
                <a:lnTo>
                  <a:pt x="269144" y="1155187"/>
                </a:lnTo>
                <a:lnTo>
                  <a:pt x="299049" y="1186380"/>
                </a:lnTo>
                <a:lnTo>
                  <a:pt x="328953" y="1215156"/>
                </a:lnTo>
                <a:lnTo>
                  <a:pt x="358858" y="1239179"/>
                </a:lnTo>
                <a:lnTo>
                  <a:pt x="388763" y="1254888"/>
                </a:lnTo>
                <a:lnTo>
                  <a:pt x="418668" y="1260897"/>
                </a:lnTo>
                <a:lnTo>
                  <a:pt x="448573" y="1256832"/>
                </a:lnTo>
                <a:lnTo>
                  <a:pt x="478478" y="1242805"/>
                </a:lnTo>
                <a:lnTo>
                  <a:pt x="508383" y="1215541"/>
                </a:lnTo>
                <a:lnTo>
                  <a:pt x="538288" y="1178025"/>
                </a:lnTo>
                <a:lnTo>
                  <a:pt x="568193" y="1131259"/>
                </a:lnTo>
                <a:lnTo>
                  <a:pt x="598098" y="1074834"/>
                </a:lnTo>
                <a:lnTo>
                  <a:pt x="628003" y="1009893"/>
                </a:lnTo>
                <a:lnTo>
                  <a:pt x="657907" y="938908"/>
                </a:lnTo>
                <a:lnTo>
                  <a:pt x="687812" y="860943"/>
                </a:lnTo>
                <a:lnTo>
                  <a:pt x="717717" y="776329"/>
                </a:lnTo>
                <a:lnTo>
                  <a:pt x="747622" y="686702"/>
                </a:lnTo>
                <a:lnTo>
                  <a:pt x="777527" y="593881"/>
                </a:lnTo>
                <a:lnTo>
                  <a:pt x="807432" y="496994"/>
                </a:lnTo>
                <a:lnTo>
                  <a:pt x="837337" y="400564"/>
                </a:lnTo>
                <a:lnTo>
                  <a:pt x="867242" y="307678"/>
                </a:lnTo>
                <a:lnTo>
                  <a:pt x="897147" y="223016"/>
                </a:lnTo>
                <a:lnTo>
                  <a:pt x="927052" y="150112"/>
                </a:lnTo>
                <a:lnTo>
                  <a:pt x="956956" y="96798"/>
                </a:lnTo>
                <a:lnTo>
                  <a:pt x="986861" y="67465"/>
                </a:lnTo>
                <a:lnTo>
                  <a:pt x="1016766" y="66867"/>
                </a:lnTo>
                <a:lnTo>
                  <a:pt x="1046671" y="96732"/>
                </a:lnTo>
                <a:lnTo>
                  <a:pt x="1076576" y="158811"/>
                </a:lnTo>
                <a:lnTo>
                  <a:pt x="1106481" y="249611"/>
                </a:lnTo>
                <a:lnTo>
                  <a:pt x="1136386" y="363825"/>
                </a:lnTo>
                <a:lnTo>
                  <a:pt x="1166291" y="492710"/>
                </a:lnTo>
                <a:lnTo>
                  <a:pt x="1196196" y="623770"/>
                </a:lnTo>
                <a:lnTo>
                  <a:pt x="1226101" y="747974"/>
                </a:lnTo>
                <a:lnTo>
                  <a:pt x="1256006" y="851486"/>
                </a:lnTo>
                <a:lnTo>
                  <a:pt x="1285910" y="925149"/>
                </a:lnTo>
                <a:lnTo>
                  <a:pt x="1315815" y="960638"/>
                </a:lnTo>
                <a:lnTo>
                  <a:pt x="1345720" y="955305"/>
                </a:lnTo>
                <a:lnTo>
                  <a:pt x="1375625" y="909594"/>
                </a:lnTo>
                <a:lnTo>
                  <a:pt x="1405530" y="828351"/>
                </a:lnTo>
                <a:lnTo>
                  <a:pt x="1435435" y="721030"/>
                </a:lnTo>
                <a:lnTo>
                  <a:pt x="1465340" y="598959"/>
                </a:lnTo>
                <a:lnTo>
                  <a:pt x="1495245" y="474696"/>
                </a:lnTo>
                <a:lnTo>
                  <a:pt x="1525150" y="360986"/>
                </a:lnTo>
                <a:lnTo>
                  <a:pt x="1555055" y="267898"/>
                </a:lnTo>
                <a:lnTo>
                  <a:pt x="1584960" y="201607"/>
                </a:lnTo>
                <a:lnTo>
                  <a:pt x="1614864" y="164897"/>
                </a:lnTo>
                <a:lnTo>
                  <a:pt x="1644769" y="157869"/>
                </a:lnTo>
                <a:lnTo>
                  <a:pt x="1674674" y="173068"/>
                </a:lnTo>
                <a:lnTo>
                  <a:pt x="1704579" y="204392"/>
                </a:lnTo>
                <a:lnTo>
                  <a:pt x="1734484" y="242257"/>
                </a:lnTo>
                <a:lnTo>
                  <a:pt x="1764389" y="276894"/>
                </a:lnTo>
                <a:lnTo>
                  <a:pt x="1794294" y="301894"/>
                </a:lnTo>
                <a:lnTo>
                  <a:pt x="1824199" y="311334"/>
                </a:lnTo>
                <a:lnTo>
                  <a:pt x="1854104" y="304685"/>
                </a:lnTo>
                <a:lnTo>
                  <a:pt x="1884009" y="283465"/>
                </a:lnTo>
                <a:lnTo>
                  <a:pt x="1913913" y="253356"/>
                </a:lnTo>
                <a:lnTo>
                  <a:pt x="1943818" y="221458"/>
                </a:lnTo>
                <a:lnTo>
                  <a:pt x="1973723" y="195260"/>
                </a:lnTo>
                <a:lnTo>
                  <a:pt x="2003628" y="182935"/>
                </a:lnTo>
                <a:lnTo>
                  <a:pt x="2033533" y="190680"/>
                </a:lnTo>
                <a:lnTo>
                  <a:pt x="2063438" y="223947"/>
                </a:lnTo>
                <a:lnTo>
                  <a:pt x="2093343" y="282600"/>
                </a:lnTo>
                <a:lnTo>
                  <a:pt x="2123248" y="367647"/>
                </a:lnTo>
                <a:lnTo>
                  <a:pt x="2153153" y="470518"/>
                </a:lnTo>
                <a:lnTo>
                  <a:pt x="2183058" y="587925"/>
                </a:lnTo>
                <a:lnTo>
                  <a:pt x="2212963" y="711229"/>
                </a:lnTo>
                <a:lnTo>
                  <a:pt x="2242867" y="833483"/>
                </a:lnTo>
                <a:lnTo>
                  <a:pt x="2272772" y="948508"/>
                </a:lnTo>
                <a:lnTo>
                  <a:pt x="2302677" y="1050064"/>
                </a:lnTo>
                <a:lnTo>
                  <a:pt x="2332582" y="1133297"/>
                </a:lnTo>
                <a:lnTo>
                  <a:pt x="2362487" y="1197165"/>
                </a:lnTo>
                <a:lnTo>
                  <a:pt x="2392392" y="1242379"/>
                </a:lnTo>
                <a:lnTo>
                  <a:pt x="2422297" y="1268837"/>
                </a:lnTo>
                <a:lnTo>
                  <a:pt x="2452202" y="1281050"/>
                </a:lnTo>
                <a:lnTo>
                  <a:pt x="2482107" y="1281074"/>
                </a:lnTo>
                <a:lnTo>
                  <a:pt x="2512012" y="1270431"/>
                </a:lnTo>
                <a:lnTo>
                  <a:pt x="2541916" y="1256441"/>
                </a:lnTo>
                <a:lnTo>
                  <a:pt x="2571821" y="1242035"/>
                </a:lnTo>
                <a:lnTo>
                  <a:pt x="2601726" y="1228951"/>
                </a:lnTo>
                <a:lnTo>
                  <a:pt x="2631631" y="1220590"/>
                </a:lnTo>
                <a:lnTo>
                  <a:pt x="2661536" y="1219671"/>
                </a:lnTo>
                <a:lnTo>
                  <a:pt x="2691441" y="1226681"/>
                </a:lnTo>
                <a:lnTo>
                  <a:pt x="2721346" y="1241940"/>
                </a:lnTo>
                <a:lnTo>
                  <a:pt x="2751251" y="1264666"/>
                </a:lnTo>
                <a:lnTo>
                  <a:pt x="2781156" y="1293370"/>
                </a:lnTo>
                <a:lnTo>
                  <a:pt x="2811061" y="1323337"/>
                </a:lnTo>
                <a:lnTo>
                  <a:pt x="2840966" y="1349617"/>
                </a:lnTo>
                <a:lnTo>
                  <a:pt x="2870870" y="1368242"/>
                </a:lnTo>
                <a:lnTo>
                  <a:pt x="2900775" y="1373285"/>
                </a:lnTo>
                <a:lnTo>
                  <a:pt x="2930680" y="1360130"/>
                </a:lnTo>
                <a:lnTo>
                  <a:pt x="2960585" y="1324895"/>
                </a:lnTo>
                <a:lnTo>
                  <a:pt x="2990490" y="1262823"/>
                </a:lnTo>
                <a:lnTo>
                  <a:pt x="3020395" y="1175933"/>
                </a:lnTo>
                <a:lnTo>
                  <a:pt x="3050300" y="1066206"/>
                </a:lnTo>
                <a:lnTo>
                  <a:pt x="3080205" y="936787"/>
                </a:lnTo>
                <a:lnTo>
                  <a:pt x="3110110" y="792915"/>
                </a:lnTo>
                <a:lnTo>
                  <a:pt x="3140015" y="644753"/>
                </a:lnTo>
                <a:lnTo>
                  <a:pt x="3169920" y="497255"/>
                </a:lnTo>
                <a:lnTo>
                  <a:pt x="3199824" y="359214"/>
                </a:lnTo>
                <a:lnTo>
                  <a:pt x="3229729" y="238500"/>
                </a:lnTo>
                <a:lnTo>
                  <a:pt x="3259634" y="139949"/>
                </a:lnTo>
                <a:lnTo>
                  <a:pt x="3289539" y="66434"/>
                </a:lnTo>
                <a:lnTo>
                  <a:pt x="3319444" y="20106"/>
                </a:lnTo>
                <a:lnTo>
                  <a:pt x="3349349" y="0"/>
                </a:lnTo>
                <a:lnTo>
                  <a:pt x="3379254" y="3265"/>
                </a:lnTo>
                <a:lnTo>
                  <a:pt x="3409159" y="26447"/>
                </a:lnTo>
                <a:lnTo>
                  <a:pt x="3439064" y="63690"/>
                </a:lnTo>
                <a:lnTo>
                  <a:pt x="3468969" y="111411"/>
                </a:lnTo>
                <a:lnTo>
                  <a:pt x="3498873" y="163865"/>
                </a:lnTo>
                <a:lnTo>
                  <a:pt x="3528778" y="215627"/>
                </a:lnTo>
                <a:lnTo>
                  <a:pt x="3558683" y="263620"/>
                </a:lnTo>
                <a:lnTo>
                  <a:pt x="3588588" y="306214"/>
                </a:lnTo>
                <a:lnTo>
                  <a:pt x="3618493" y="340619"/>
                </a:lnTo>
                <a:lnTo>
                  <a:pt x="3648398" y="364595"/>
                </a:lnTo>
                <a:lnTo>
                  <a:pt x="3678303" y="377821"/>
                </a:lnTo>
                <a:lnTo>
                  <a:pt x="3708208" y="382805"/>
                </a:lnTo>
                <a:lnTo>
                  <a:pt x="3738113" y="377057"/>
                </a:lnTo>
                <a:lnTo>
                  <a:pt x="3768018" y="361585"/>
                </a:lnTo>
                <a:lnTo>
                  <a:pt x="3797923" y="341058"/>
                </a:lnTo>
                <a:lnTo>
                  <a:pt x="3827827" y="311678"/>
                </a:lnTo>
                <a:lnTo>
                  <a:pt x="3857732" y="276230"/>
                </a:lnTo>
                <a:lnTo>
                  <a:pt x="3887637" y="236160"/>
                </a:lnTo>
                <a:lnTo>
                  <a:pt x="3917542" y="195568"/>
                </a:lnTo>
                <a:lnTo>
                  <a:pt x="3947447" y="155083"/>
                </a:lnTo>
                <a:lnTo>
                  <a:pt x="3977352" y="119950"/>
                </a:lnTo>
                <a:lnTo>
                  <a:pt x="4007257" y="92650"/>
                </a:lnTo>
                <a:lnTo>
                  <a:pt x="4037162" y="79951"/>
                </a:lnTo>
                <a:lnTo>
                  <a:pt x="4067067" y="86688"/>
                </a:lnTo>
                <a:lnTo>
                  <a:pt x="4096972" y="116329"/>
                </a:lnTo>
                <a:lnTo>
                  <a:pt x="4126876" y="171824"/>
                </a:lnTo>
                <a:lnTo>
                  <a:pt x="4156781" y="255691"/>
                </a:lnTo>
                <a:lnTo>
                  <a:pt x="4186686" y="365608"/>
                </a:lnTo>
                <a:lnTo>
                  <a:pt x="4216591" y="496793"/>
                </a:lnTo>
                <a:lnTo>
                  <a:pt x="4246496" y="643562"/>
                </a:lnTo>
                <a:lnTo>
                  <a:pt x="4276401" y="793846"/>
                </a:lnTo>
                <a:lnTo>
                  <a:pt x="4306306" y="936704"/>
                </a:lnTo>
                <a:lnTo>
                  <a:pt x="4336211" y="1057714"/>
                </a:lnTo>
                <a:lnTo>
                  <a:pt x="4366116" y="1147365"/>
                </a:lnTo>
                <a:lnTo>
                  <a:pt x="4396021" y="1193912"/>
                </a:lnTo>
                <a:lnTo>
                  <a:pt x="4425926" y="1191263"/>
                </a:lnTo>
                <a:lnTo>
                  <a:pt x="4455830" y="1140467"/>
                </a:lnTo>
                <a:lnTo>
                  <a:pt x="4485735" y="1043427"/>
                </a:lnTo>
                <a:lnTo>
                  <a:pt x="4515640" y="911656"/>
                </a:lnTo>
                <a:lnTo>
                  <a:pt x="4545545" y="758700"/>
                </a:lnTo>
                <a:lnTo>
                  <a:pt x="4575450" y="601134"/>
                </a:lnTo>
                <a:lnTo>
                  <a:pt x="4605355" y="457884"/>
                </a:lnTo>
                <a:lnTo>
                  <a:pt x="4635260" y="341970"/>
                </a:lnTo>
                <a:lnTo>
                  <a:pt x="4665165" y="270109"/>
                </a:lnTo>
                <a:lnTo>
                  <a:pt x="4695070" y="248349"/>
                </a:lnTo>
                <a:lnTo>
                  <a:pt x="4724975" y="280496"/>
                </a:lnTo>
                <a:lnTo>
                  <a:pt x="4754880" y="362065"/>
                </a:lnTo>
              </a:path>
            </a:pathLst>
          </a:custGeom>
          <a:noFill/>
          <a:ln w="19050"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Q trace"/>
          <p:cNvSpPr/>
          <p:nvPr/>
        </p:nvSpPr>
        <p:spPr>
          <a:xfrm>
            <a:off x="7086600" y="3382108"/>
            <a:ext cx="4754880" cy="1403933"/>
          </a:xfrm>
          <a:custGeom>
            <a:avLst/>
            <a:gdLst/>
            <a:ahLst/>
            <a:cxnLst/>
            <a:rect l="l" t="t" r="r" b="b"/>
            <a:pathLst>
              <a:path w="4754880" h="1403933">
                <a:moveTo>
                  <a:pt x="0" y="539"/>
                </a:moveTo>
                <a:lnTo>
                  <a:pt x="29904" y="0"/>
                </a:lnTo>
                <a:lnTo>
                  <a:pt x="59809" y="28112"/>
                </a:lnTo>
                <a:lnTo>
                  <a:pt x="89714" y="87435"/>
                </a:lnTo>
                <a:lnTo>
                  <a:pt x="119619" y="176256"/>
                </a:lnTo>
                <a:lnTo>
                  <a:pt x="149524" y="291139"/>
                </a:lnTo>
                <a:lnTo>
                  <a:pt x="179429" y="425488"/>
                </a:lnTo>
                <a:lnTo>
                  <a:pt x="209334" y="566954"/>
                </a:lnTo>
                <a:lnTo>
                  <a:pt x="239239" y="705759"/>
                </a:lnTo>
                <a:lnTo>
                  <a:pt x="269144" y="826396"/>
                </a:lnTo>
                <a:lnTo>
                  <a:pt x="299049" y="920224"/>
                </a:lnTo>
                <a:lnTo>
                  <a:pt x="328953" y="974623"/>
                </a:lnTo>
                <a:lnTo>
                  <a:pt x="358858" y="984418"/>
                </a:lnTo>
                <a:lnTo>
                  <a:pt x="388763" y="949557"/>
                </a:lnTo>
                <a:lnTo>
                  <a:pt x="418668" y="872943"/>
                </a:lnTo>
                <a:lnTo>
                  <a:pt x="448573" y="765491"/>
                </a:lnTo>
                <a:lnTo>
                  <a:pt x="478478" y="640445"/>
                </a:lnTo>
                <a:lnTo>
                  <a:pt x="508383" y="514268"/>
                </a:lnTo>
                <a:lnTo>
                  <a:pt x="538288" y="403728"/>
                </a:lnTo>
                <a:lnTo>
                  <a:pt x="568193" y="326231"/>
                </a:lnTo>
                <a:lnTo>
                  <a:pt x="598098" y="290854"/>
                </a:lnTo>
                <a:lnTo>
                  <a:pt x="628003" y="304721"/>
                </a:lnTo>
                <a:lnTo>
                  <a:pt x="657907" y="368518"/>
                </a:lnTo>
                <a:lnTo>
                  <a:pt x="687812" y="476118"/>
                </a:lnTo>
                <a:lnTo>
                  <a:pt x="717717" y="614028"/>
                </a:lnTo>
                <a:lnTo>
                  <a:pt x="747622" y="768880"/>
                </a:lnTo>
                <a:lnTo>
                  <a:pt x="777527" y="920793"/>
                </a:lnTo>
                <a:lnTo>
                  <a:pt x="807432" y="1054129"/>
                </a:lnTo>
                <a:lnTo>
                  <a:pt x="837337" y="1152988"/>
                </a:lnTo>
                <a:lnTo>
                  <a:pt x="867242" y="1208335"/>
                </a:lnTo>
                <a:lnTo>
                  <a:pt x="897147" y="1213265"/>
                </a:lnTo>
                <a:lnTo>
                  <a:pt x="927052" y="1169515"/>
                </a:lnTo>
                <a:lnTo>
                  <a:pt x="956956" y="1083604"/>
                </a:lnTo>
                <a:lnTo>
                  <a:pt x="986861" y="964312"/>
                </a:lnTo>
                <a:lnTo>
                  <a:pt x="1016766" y="826828"/>
                </a:lnTo>
                <a:lnTo>
                  <a:pt x="1046671" y="680367"/>
                </a:lnTo>
                <a:lnTo>
                  <a:pt x="1076576" y="540910"/>
                </a:lnTo>
                <a:lnTo>
                  <a:pt x="1106481" y="415776"/>
                </a:lnTo>
                <a:lnTo>
                  <a:pt x="1136386" y="313331"/>
                </a:lnTo>
                <a:lnTo>
                  <a:pt x="1166291" y="236462"/>
                </a:lnTo>
                <a:lnTo>
                  <a:pt x="1196196" y="181891"/>
                </a:lnTo>
                <a:lnTo>
                  <a:pt x="1226101" y="150212"/>
                </a:lnTo>
                <a:lnTo>
                  <a:pt x="1256006" y="133182"/>
                </a:lnTo>
                <a:lnTo>
                  <a:pt x="1285910" y="127706"/>
                </a:lnTo>
                <a:lnTo>
                  <a:pt x="1315815" y="128631"/>
                </a:lnTo>
                <a:lnTo>
                  <a:pt x="1345720" y="132311"/>
                </a:lnTo>
                <a:lnTo>
                  <a:pt x="1375625" y="139344"/>
                </a:lnTo>
                <a:lnTo>
                  <a:pt x="1405530" y="151593"/>
                </a:lnTo>
                <a:lnTo>
                  <a:pt x="1435435" y="170401"/>
                </a:lnTo>
                <a:lnTo>
                  <a:pt x="1465340" y="200925"/>
                </a:lnTo>
                <a:lnTo>
                  <a:pt x="1495245" y="247993"/>
                </a:lnTo>
                <a:lnTo>
                  <a:pt x="1525150" y="312904"/>
                </a:lnTo>
                <a:lnTo>
                  <a:pt x="1555055" y="398674"/>
                </a:lnTo>
                <a:lnTo>
                  <a:pt x="1584960" y="503512"/>
                </a:lnTo>
                <a:lnTo>
                  <a:pt x="1614864" y="624025"/>
                </a:lnTo>
                <a:lnTo>
                  <a:pt x="1644769" y="753781"/>
                </a:lnTo>
                <a:lnTo>
                  <a:pt x="1674674" y="884729"/>
                </a:lnTo>
                <a:lnTo>
                  <a:pt x="1704579" y="1006681"/>
                </a:lnTo>
                <a:lnTo>
                  <a:pt x="1734484" y="1111603"/>
                </a:lnTo>
                <a:lnTo>
                  <a:pt x="1764389" y="1188851"/>
                </a:lnTo>
                <a:lnTo>
                  <a:pt x="1794294" y="1235019"/>
                </a:lnTo>
                <a:lnTo>
                  <a:pt x="1824199" y="1241810"/>
                </a:lnTo>
                <a:lnTo>
                  <a:pt x="1854104" y="1210095"/>
                </a:lnTo>
                <a:lnTo>
                  <a:pt x="1884009" y="1145166"/>
                </a:lnTo>
                <a:lnTo>
                  <a:pt x="1913913" y="1047267"/>
                </a:lnTo>
                <a:lnTo>
                  <a:pt x="1943818" y="924283"/>
                </a:lnTo>
                <a:lnTo>
                  <a:pt x="1973723" y="785312"/>
                </a:lnTo>
                <a:lnTo>
                  <a:pt x="2003628" y="640291"/>
                </a:lnTo>
                <a:lnTo>
                  <a:pt x="2033533" y="496959"/>
                </a:lnTo>
                <a:lnTo>
                  <a:pt x="2063438" y="364518"/>
                </a:lnTo>
                <a:lnTo>
                  <a:pt x="2093343" y="249801"/>
                </a:lnTo>
                <a:lnTo>
                  <a:pt x="2123248" y="158372"/>
                </a:lnTo>
                <a:lnTo>
                  <a:pt x="2153153" y="95826"/>
                </a:lnTo>
                <a:lnTo>
                  <a:pt x="2183058" y="63589"/>
                </a:lnTo>
                <a:lnTo>
                  <a:pt x="2212963" y="63003"/>
                </a:lnTo>
                <a:lnTo>
                  <a:pt x="2242867" y="92110"/>
                </a:lnTo>
                <a:lnTo>
                  <a:pt x="2272772" y="149175"/>
                </a:lnTo>
                <a:lnTo>
                  <a:pt x="2302677" y="230892"/>
                </a:lnTo>
                <a:lnTo>
                  <a:pt x="2332582" y="333046"/>
                </a:lnTo>
                <a:lnTo>
                  <a:pt x="2362487" y="447401"/>
                </a:lnTo>
                <a:lnTo>
                  <a:pt x="2392392" y="569117"/>
                </a:lnTo>
                <a:lnTo>
                  <a:pt x="2422297" y="691057"/>
                </a:lnTo>
                <a:lnTo>
                  <a:pt x="2452202" y="806301"/>
                </a:lnTo>
                <a:lnTo>
                  <a:pt x="2482107" y="908361"/>
                </a:lnTo>
                <a:lnTo>
                  <a:pt x="2512012" y="993093"/>
                </a:lnTo>
                <a:lnTo>
                  <a:pt x="2541916" y="1057933"/>
                </a:lnTo>
                <a:lnTo>
                  <a:pt x="2571821" y="1104053"/>
                </a:lnTo>
                <a:lnTo>
                  <a:pt x="2601726" y="1130459"/>
                </a:lnTo>
                <a:lnTo>
                  <a:pt x="2631631" y="1139804"/>
                </a:lnTo>
                <a:lnTo>
                  <a:pt x="2661536" y="1136746"/>
                </a:lnTo>
                <a:lnTo>
                  <a:pt x="2691441" y="1126654"/>
                </a:lnTo>
                <a:lnTo>
                  <a:pt x="2721346" y="1113155"/>
                </a:lnTo>
                <a:lnTo>
                  <a:pt x="2751251" y="1102388"/>
                </a:lnTo>
                <a:lnTo>
                  <a:pt x="2781156" y="1093974"/>
                </a:lnTo>
                <a:lnTo>
                  <a:pt x="2811061" y="1090080"/>
                </a:lnTo>
                <a:lnTo>
                  <a:pt x="2840966" y="1090590"/>
                </a:lnTo>
                <a:lnTo>
                  <a:pt x="2870870" y="1094246"/>
                </a:lnTo>
                <a:lnTo>
                  <a:pt x="2900775" y="1095123"/>
                </a:lnTo>
                <a:lnTo>
                  <a:pt x="2930680" y="1092006"/>
                </a:lnTo>
                <a:lnTo>
                  <a:pt x="2960585" y="1079817"/>
                </a:lnTo>
                <a:lnTo>
                  <a:pt x="2990490" y="1055521"/>
                </a:lnTo>
                <a:lnTo>
                  <a:pt x="3020395" y="1017816"/>
                </a:lnTo>
                <a:lnTo>
                  <a:pt x="3050300" y="964146"/>
                </a:lnTo>
                <a:lnTo>
                  <a:pt x="3080205" y="896788"/>
                </a:lnTo>
                <a:lnTo>
                  <a:pt x="3110110" y="817940"/>
                </a:lnTo>
                <a:lnTo>
                  <a:pt x="3140015" y="728603"/>
                </a:lnTo>
                <a:lnTo>
                  <a:pt x="3169920" y="632825"/>
                </a:lnTo>
                <a:lnTo>
                  <a:pt x="3199824" y="536537"/>
                </a:lnTo>
                <a:lnTo>
                  <a:pt x="3229729" y="443639"/>
                </a:lnTo>
                <a:lnTo>
                  <a:pt x="3259634" y="358959"/>
                </a:lnTo>
                <a:lnTo>
                  <a:pt x="3289539" y="287844"/>
                </a:lnTo>
                <a:lnTo>
                  <a:pt x="3319444" y="236699"/>
                </a:lnTo>
                <a:lnTo>
                  <a:pt x="3349349" y="209482"/>
                </a:lnTo>
                <a:lnTo>
                  <a:pt x="3379254" y="209215"/>
                </a:lnTo>
                <a:lnTo>
                  <a:pt x="3409159" y="240331"/>
                </a:lnTo>
                <a:lnTo>
                  <a:pt x="3439064" y="302090"/>
                </a:lnTo>
                <a:lnTo>
                  <a:pt x="3468969" y="393589"/>
                </a:lnTo>
                <a:lnTo>
                  <a:pt x="3498873" y="508917"/>
                </a:lnTo>
                <a:lnTo>
                  <a:pt x="3528778" y="641405"/>
                </a:lnTo>
                <a:lnTo>
                  <a:pt x="3558683" y="782871"/>
                </a:lnTo>
                <a:lnTo>
                  <a:pt x="3588588" y="921036"/>
                </a:lnTo>
                <a:lnTo>
                  <a:pt x="3618493" y="1043391"/>
                </a:lnTo>
                <a:lnTo>
                  <a:pt x="3648398" y="1137913"/>
                </a:lnTo>
                <a:lnTo>
                  <a:pt x="3678303" y="1197935"/>
                </a:lnTo>
                <a:lnTo>
                  <a:pt x="3708208" y="1215381"/>
                </a:lnTo>
                <a:lnTo>
                  <a:pt x="3738113" y="1190001"/>
                </a:lnTo>
                <a:lnTo>
                  <a:pt x="3768018" y="1125285"/>
                </a:lnTo>
                <a:lnTo>
                  <a:pt x="3797923" y="1026853"/>
                </a:lnTo>
                <a:lnTo>
                  <a:pt x="3827827" y="908379"/>
                </a:lnTo>
                <a:lnTo>
                  <a:pt x="3857732" y="781141"/>
                </a:lnTo>
                <a:lnTo>
                  <a:pt x="3887637" y="663970"/>
                </a:lnTo>
                <a:lnTo>
                  <a:pt x="3917542" y="566497"/>
                </a:lnTo>
                <a:lnTo>
                  <a:pt x="3947447" y="503110"/>
                </a:lnTo>
                <a:lnTo>
                  <a:pt x="3977352" y="480289"/>
                </a:lnTo>
                <a:lnTo>
                  <a:pt x="4007257" y="500076"/>
                </a:lnTo>
                <a:lnTo>
                  <a:pt x="4037162" y="561046"/>
                </a:lnTo>
                <a:lnTo>
                  <a:pt x="4067067" y="657363"/>
                </a:lnTo>
                <a:lnTo>
                  <a:pt x="4096972" y="780258"/>
                </a:lnTo>
                <a:lnTo>
                  <a:pt x="4126876" y="916254"/>
                </a:lnTo>
                <a:lnTo>
                  <a:pt x="4156781" y="1053080"/>
                </a:lnTo>
                <a:lnTo>
                  <a:pt x="4186686" y="1178961"/>
                </a:lnTo>
                <a:lnTo>
                  <a:pt x="4216591" y="1282295"/>
                </a:lnTo>
                <a:lnTo>
                  <a:pt x="4246496" y="1358210"/>
                </a:lnTo>
                <a:lnTo>
                  <a:pt x="4276401" y="1398505"/>
                </a:lnTo>
                <a:lnTo>
                  <a:pt x="4306306" y="1403933"/>
                </a:lnTo>
                <a:lnTo>
                  <a:pt x="4336211" y="1374168"/>
                </a:lnTo>
                <a:lnTo>
                  <a:pt x="4366116" y="1313968"/>
                </a:lnTo>
                <a:lnTo>
                  <a:pt x="4396021" y="1227985"/>
                </a:lnTo>
                <a:lnTo>
                  <a:pt x="4425926" y="1122530"/>
                </a:lnTo>
                <a:lnTo>
                  <a:pt x="4455830" y="1004583"/>
                </a:lnTo>
                <a:lnTo>
                  <a:pt x="4485735" y="882714"/>
                </a:lnTo>
                <a:lnTo>
                  <a:pt x="4515640" y="763191"/>
                </a:lnTo>
                <a:lnTo>
                  <a:pt x="4545545" y="654471"/>
                </a:lnTo>
                <a:lnTo>
                  <a:pt x="4575450" y="562029"/>
                </a:lnTo>
                <a:lnTo>
                  <a:pt x="4605355" y="491311"/>
                </a:lnTo>
                <a:lnTo>
                  <a:pt x="4635260" y="446234"/>
                </a:lnTo>
                <a:lnTo>
                  <a:pt x="4665165" y="430999"/>
                </a:lnTo>
                <a:lnTo>
                  <a:pt x="4695070" y="443425"/>
                </a:lnTo>
                <a:lnTo>
                  <a:pt x="4724975" y="481249"/>
                </a:lnTo>
                <a:lnTo>
                  <a:pt x="4754880" y="543914"/>
                </a:lnTo>
              </a:path>
            </a:pathLst>
          </a:custGeom>
          <a:noFill/>
          <a:ln w="19050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86600" y="960120"/>
            <a:ext cx="2743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A78D6"/>
                </a:solidFill>
                <a:latin typeface="Calibri"/>
              </a:rPr>
              <a:t>I  (in-phase)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86600" y="2880360"/>
            <a:ext cx="2743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EB6834"/>
                </a:solidFill>
                <a:latin typeface="Calibri"/>
              </a:rPr>
              <a:t>Q  (quadrature)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6600" y="5257800"/>
            <a:ext cx="475488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B6470"/>
                </a:solidFill>
                <a:latin typeface="Calibri"/>
              </a:rPr>
              <a:t>A real held-out test signal: QPSK at +30 dB SNR, first 160 of 1,024 samples (RadioML 2018.01A, test index 1,229)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85800"/>
            <a:ext cx="57607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E7C7B"/>
                </a:solidFill>
                <a:latin typeface="Calibri"/>
              </a:rPr>
              <a:t>22AIE304 DEEP LEARNING · FINAL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143000"/>
            <a:ext cx="5852160" cy="23774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F2328"/>
                </a:solidFill>
                <a:latin typeface="Cambria"/>
              </a:rPr>
              <a:t>Self-Supervised Masked Autoencoder Pretraining for Low-Label Automatic Modulation Classification Using IQ Signals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94760"/>
            <a:ext cx="57607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F2328"/>
                </a:solidFill>
                <a:latin typeface="Calibri"/>
              </a:rPr>
              <a:t>Group 41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06240"/>
            <a:ext cx="576072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F2328"/>
                </a:solidFill>
                <a:latin typeface="Calibri"/>
              </a:rPr>
              <a:t>P V Nekha</a:t>
            </a:r>
            <a:r>
              <a:rPr sz="1500" b="0" i="0">
                <a:solidFill>
                  <a:srgbClr val="5B6470"/>
                </a:solidFill>
                <a:latin typeface="Calibri"/>
              </a:rPr>
              <a:t>    AM.SC.U4AIE24037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590288"/>
            <a:ext cx="576072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F2328"/>
                </a:solidFill>
                <a:latin typeface="Calibri"/>
              </a:rPr>
              <a:t>Vinayak S</a:t>
            </a:r>
            <a:r>
              <a:rPr sz="1500" b="0" i="0">
                <a:solidFill>
                  <a:srgbClr val="5B6470"/>
                </a:solidFill>
                <a:latin typeface="Calibri"/>
              </a:rPr>
              <a:t>    AM.SC.U4AIE24056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974336"/>
            <a:ext cx="576072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F2328"/>
                </a:solidFill>
                <a:latin typeface="Calibri"/>
              </a:rPr>
              <a:t>Monish T</a:t>
            </a:r>
            <a:r>
              <a:rPr sz="1500" b="0" i="0">
                <a:solidFill>
                  <a:srgbClr val="5B6470"/>
                </a:solidFill>
                <a:latin typeface="Calibri"/>
              </a:rPr>
              <a:t>    AM.SC.U4AIE24064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532120"/>
            <a:ext cx="57607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B6470"/>
                </a:solidFill>
                <a:latin typeface="Calibri"/>
              </a:rPr>
              <a:t>B.Tech CSE (Artificial Intelligence)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PROBLEM STATEMENT AND MOTIVATION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F2328"/>
                </a:solidFill>
                <a:latin typeface="Cambria"/>
              </a:rPr>
              <a:t>Modulation is hard to recognise with few labels and low SNR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5669280" cy="3291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 marL="201168" indent="-182880">
              <a:spcAft>
                <a:spcPts val="1200"/>
              </a:spcAft>
              <a:buChar char="•"/>
            </a:pPr>
            <a:r>
              <a:rPr sz="1700" b="1" i="0">
                <a:solidFill>
                  <a:srgbClr val="1F2328"/>
                </a:solidFill>
                <a:latin typeface="Calibri"/>
              </a:rPr>
              <a:t>Automatic modulation classification (AMC): </a:t>
            </a:r>
            <a:r>
              <a:rPr sz="1700" b="0" i="0">
                <a:solidFill>
                  <a:srgbClr val="1F2328"/>
                </a:solidFill>
                <a:latin typeface="Calibri"/>
              </a:rPr>
              <a:t>identify how a received radio signal was modulated, e.g. QPSK or 16QAM, directly from its I/Q samples</a:t>
            </a:r>
          </a:p>
          <a:p>
            <a:pPr algn="l" marL="201168" indent="-182880">
              <a:spcAft>
                <a:spcPts val="1200"/>
              </a:spcAft>
              <a:buChar char="•"/>
            </a:pPr>
            <a:r>
              <a:rPr sz="1700" b="1" i="0">
                <a:solidFill>
                  <a:srgbClr val="1F2328"/>
                </a:solidFill>
                <a:latin typeface="Calibri"/>
              </a:rPr>
              <a:t>Labels are expensive: </a:t>
            </a:r>
            <a:r>
              <a:rPr sz="1700" b="0" i="0">
                <a:solidFill>
                  <a:srgbClr val="1F2328"/>
                </a:solidFill>
                <a:latin typeface="Calibri"/>
              </a:rPr>
              <a:t>each training signal needs a known transmitter setting, RF equipment and expert effort</a:t>
            </a:r>
          </a:p>
          <a:p>
            <a:pPr algn="l" marL="201168" indent="-182880">
              <a:spcAft>
                <a:spcPts val="1200"/>
              </a:spcAft>
              <a:buChar char="•"/>
            </a:pPr>
            <a:r>
              <a:rPr sz="1700" b="1" i="0">
                <a:solidFill>
                  <a:srgbClr val="1F2328"/>
                </a:solidFill>
                <a:latin typeface="Calibri"/>
              </a:rPr>
              <a:t>Low signal-to-noise ratio (SNR) </a:t>
            </a:r>
            <a:r>
              <a:rPr sz="1700" b="0" i="0">
                <a:solidFill>
                  <a:srgbClr val="1F2328"/>
                </a:solidFill>
                <a:latin typeface="Calibri"/>
              </a:rPr>
              <a:t>buries the modulation pattern in noise, so accuracy drops sharply</a:t>
            </a:r>
          </a:p>
          <a:p>
            <a:pPr algn="l" marL="201168" indent="-182880">
              <a:spcAft>
                <a:spcPts val="1200"/>
              </a:spcAft>
              <a:buChar char="•"/>
            </a:pPr>
            <a:r>
              <a:rPr sz="1700" b="1" i="0">
                <a:solidFill>
                  <a:srgbClr val="1F2328"/>
                </a:solidFill>
                <a:latin typeface="Calibri"/>
              </a:rPr>
              <a:t>Unlabelled signals are plentiful. </a:t>
            </a:r>
            <a:r>
              <a:rPr sz="1700" b="0" i="0">
                <a:solidFill>
                  <a:srgbClr val="1F2328"/>
                </a:solidFill>
                <a:latin typeface="Calibri"/>
              </a:rPr>
              <a:t>Self-supervised pretraining can learn signal structure from them first, then fine-tune with few labels</a:t>
            </a:r>
          </a:p>
        </p:txBody>
      </p:sp>
      <p:sp>
        <p:nvSpPr>
          <p:cNvPr id="5" name="SNR comparison"/>
          <p:cNvSpPr/>
          <p:nvPr/>
        </p:nvSpPr>
        <p:spPr>
          <a:xfrm>
            <a:off x="6675120" y="1508760"/>
            <a:ext cx="4983480" cy="329184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949440" y="2217420"/>
            <a:ext cx="4434840" cy="755453"/>
          </a:xfrm>
          <a:custGeom>
            <a:avLst/>
            <a:gdLst/>
            <a:ahLst/>
            <a:cxnLst/>
            <a:rect l="l" t="t" r="r" b="b"/>
            <a:pathLst>
              <a:path w="4434840" h="755453">
                <a:moveTo>
                  <a:pt x="0" y="755453"/>
                </a:moveTo>
                <a:lnTo>
                  <a:pt x="37267" y="701579"/>
                </a:lnTo>
                <a:lnTo>
                  <a:pt x="74535" y="638268"/>
                </a:lnTo>
                <a:lnTo>
                  <a:pt x="111802" y="569239"/>
                </a:lnTo>
                <a:lnTo>
                  <a:pt x="149070" y="506353"/>
                </a:lnTo>
                <a:lnTo>
                  <a:pt x="186337" y="462396"/>
                </a:lnTo>
                <a:lnTo>
                  <a:pt x="223605" y="413664"/>
                </a:lnTo>
                <a:lnTo>
                  <a:pt x="260872" y="371670"/>
                </a:lnTo>
                <a:lnTo>
                  <a:pt x="298140" y="350081"/>
                </a:lnTo>
                <a:lnTo>
                  <a:pt x="335408" y="336100"/>
                </a:lnTo>
                <a:lnTo>
                  <a:pt x="372675" y="338646"/>
                </a:lnTo>
                <a:lnTo>
                  <a:pt x="409943" y="337529"/>
                </a:lnTo>
                <a:lnTo>
                  <a:pt x="447210" y="345238"/>
                </a:lnTo>
                <a:lnTo>
                  <a:pt x="484478" y="333726"/>
                </a:lnTo>
                <a:lnTo>
                  <a:pt x="521745" y="333071"/>
                </a:lnTo>
                <a:lnTo>
                  <a:pt x="559013" y="315040"/>
                </a:lnTo>
                <a:lnTo>
                  <a:pt x="596281" y="292186"/>
                </a:lnTo>
                <a:lnTo>
                  <a:pt x="633548" y="261041"/>
                </a:lnTo>
                <a:lnTo>
                  <a:pt x="670816" y="222547"/>
                </a:lnTo>
                <a:lnTo>
                  <a:pt x="708083" y="184811"/>
                </a:lnTo>
                <a:lnTo>
                  <a:pt x="745351" y="136885"/>
                </a:lnTo>
                <a:lnTo>
                  <a:pt x="782618" y="115303"/>
                </a:lnTo>
                <a:lnTo>
                  <a:pt x="819886" y="108171"/>
                </a:lnTo>
                <a:lnTo>
                  <a:pt x="857153" y="106694"/>
                </a:lnTo>
                <a:lnTo>
                  <a:pt x="894421" y="141691"/>
                </a:lnTo>
                <a:lnTo>
                  <a:pt x="931689" y="172098"/>
                </a:lnTo>
                <a:lnTo>
                  <a:pt x="968956" y="232478"/>
                </a:lnTo>
                <a:lnTo>
                  <a:pt x="1006224" y="293562"/>
                </a:lnTo>
                <a:lnTo>
                  <a:pt x="1043491" y="358417"/>
                </a:lnTo>
                <a:lnTo>
                  <a:pt x="1080759" y="408316"/>
                </a:lnTo>
                <a:lnTo>
                  <a:pt x="1118026" y="451241"/>
                </a:lnTo>
                <a:lnTo>
                  <a:pt x="1155294" y="481450"/>
                </a:lnTo>
                <a:lnTo>
                  <a:pt x="1192562" y="477062"/>
                </a:lnTo>
                <a:lnTo>
                  <a:pt x="1229829" y="457915"/>
                </a:lnTo>
                <a:lnTo>
                  <a:pt x="1267097" y="418045"/>
                </a:lnTo>
                <a:lnTo>
                  <a:pt x="1304364" y="364632"/>
                </a:lnTo>
                <a:lnTo>
                  <a:pt x="1341632" y="307736"/>
                </a:lnTo>
                <a:lnTo>
                  <a:pt x="1378899" y="237981"/>
                </a:lnTo>
                <a:lnTo>
                  <a:pt x="1416167" y="181220"/>
                </a:lnTo>
                <a:lnTo>
                  <a:pt x="1453434" y="144884"/>
                </a:lnTo>
                <a:lnTo>
                  <a:pt x="1490702" y="117451"/>
                </a:lnTo>
                <a:lnTo>
                  <a:pt x="1527970" y="107597"/>
                </a:lnTo>
                <a:lnTo>
                  <a:pt x="1565237" y="119623"/>
                </a:lnTo>
                <a:lnTo>
                  <a:pt x="1602505" y="148169"/>
                </a:lnTo>
                <a:lnTo>
                  <a:pt x="1639772" y="195987"/>
                </a:lnTo>
                <a:lnTo>
                  <a:pt x="1677040" y="226377"/>
                </a:lnTo>
                <a:lnTo>
                  <a:pt x="1714307" y="264409"/>
                </a:lnTo>
                <a:lnTo>
                  <a:pt x="1751575" y="291485"/>
                </a:lnTo>
                <a:lnTo>
                  <a:pt x="1788843" y="307601"/>
                </a:lnTo>
                <a:lnTo>
                  <a:pt x="1826110" y="312454"/>
                </a:lnTo>
                <a:lnTo>
                  <a:pt x="1863378" y="293535"/>
                </a:lnTo>
                <a:lnTo>
                  <a:pt x="1900645" y="274685"/>
                </a:lnTo>
                <a:lnTo>
                  <a:pt x="1937913" y="233739"/>
                </a:lnTo>
                <a:lnTo>
                  <a:pt x="1975180" y="191212"/>
                </a:lnTo>
                <a:lnTo>
                  <a:pt x="2012448" y="151359"/>
                </a:lnTo>
                <a:lnTo>
                  <a:pt x="2049715" y="123922"/>
                </a:lnTo>
                <a:lnTo>
                  <a:pt x="2086983" y="86693"/>
                </a:lnTo>
                <a:lnTo>
                  <a:pt x="2124251" y="80616"/>
                </a:lnTo>
                <a:lnTo>
                  <a:pt x="2161518" y="87637"/>
                </a:lnTo>
                <a:lnTo>
                  <a:pt x="2198786" y="107142"/>
                </a:lnTo>
                <a:lnTo>
                  <a:pt x="2236053" y="139940"/>
                </a:lnTo>
                <a:lnTo>
                  <a:pt x="2273321" y="181672"/>
                </a:lnTo>
                <a:lnTo>
                  <a:pt x="2310588" y="242095"/>
                </a:lnTo>
                <a:lnTo>
                  <a:pt x="2347856" y="295525"/>
                </a:lnTo>
                <a:lnTo>
                  <a:pt x="2385124" y="355598"/>
                </a:lnTo>
                <a:lnTo>
                  <a:pt x="2422391" y="418443"/>
                </a:lnTo>
                <a:lnTo>
                  <a:pt x="2459659" y="465465"/>
                </a:lnTo>
                <a:lnTo>
                  <a:pt x="2496926" y="506279"/>
                </a:lnTo>
                <a:lnTo>
                  <a:pt x="2534194" y="536764"/>
                </a:lnTo>
                <a:lnTo>
                  <a:pt x="2571461" y="557133"/>
                </a:lnTo>
                <a:lnTo>
                  <a:pt x="2608729" y="556273"/>
                </a:lnTo>
                <a:lnTo>
                  <a:pt x="2645996" y="533345"/>
                </a:lnTo>
                <a:lnTo>
                  <a:pt x="2683264" y="515802"/>
                </a:lnTo>
                <a:lnTo>
                  <a:pt x="2720532" y="470399"/>
                </a:lnTo>
                <a:lnTo>
                  <a:pt x="2757799" y="419596"/>
                </a:lnTo>
                <a:lnTo>
                  <a:pt x="2795067" y="362083"/>
                </a:lnTo>
                <a:lnTo>
                  <a:pt x="2832334" y="295286"/>
                </a:lnTo>
                <a:lnTo>
                  <a:pt x="2869602" y="235081"/>
                </a:lnTo>
                <a:lnTo>
                  <a:pt x="2906869" y="168304"/>
                </a:lnTo>
                <a:lnTo>
                  <a:pt x="2944137" y="119838"/>
                </a:lnTo>
                <a:lnTo>
                  <a:pt x="2981405" y="67653"/>
                </a:lnTo>
                <a:lnTo>
                  <a:pt x="3018672" y="40578"/>
                </a:lnTo>
                <a:lnTo>
                  <a:pt x="3055940" y="13529"/>
                </a:lnTo>
                <a:lnTo>
                  <a:pt x="3093207" y="2879"/>
                </a:lnTo>
                <a:lnTo>
                  <a:pt x="3130475" y="0"/>
                </a:lnTo>
                <a:lnTo>
                  <a:pt x="3167742" y="8191"/>
                </a:lnTo>
                <a:lnTo>
                  <a:pt x="3205010" y="30343"/>
                </a:lnTo>
                <a:lnTo>
                  <a:pt x="3242277" y="60949"/>
                </a:lnTo>
                <a:lnTo>
                  <a:pt x="3279545" y="80302"/>
                </a:lnTo>
                <a:lnTo>
                  <a:pt x="3316813" y="110427"/>
                </a:lnTo>
                <a:lnTo>
                  <a:pt x="3354080" y="140136"/>
                </a:lnTo>
                <a:lnTo>
                  <a:pt x="3391348" y="174779"/>
                </a:lnTo>
                <a:lnTo>
                  <a:pt x="3428615" y="219397"/>
                </a:lnTo>
                <a:lnTo>
                  <a:pt x="3465883" y="242220"/>
                </a:lnTo>
                <a:lnTo>
                  <a:pt x="3503150" y="286980"/>
                </a:lnTo>
                <a:lnTo>
                  <a:pt x="3540418" y="329848"/>
                </a:lnTo>
                <a:lnTo>
                  <a:pt x="3577686" y="372658"/>
                </a:lnTo>
                <a:lnTo>
                  <a:pt x="3614953" y="413560"/>
                </a:lnTo>
                <a:lnTo>
                  <a:pt x="3652221" y="443468"/>
                </a:lnTo>
                <a:lnTo>
                  <a:pt x="3689488" y="470095"/>
                </a:lnTo>
                <a:lnTo>
                  <a:pt x="3726756" y="501717"/>
                </a:lnTo>
                <a:lnTo>
                  <a:pt x="3764023" y="508282"/>
                </a:lnTo>
                <a:lnTo>
                  <a:pt x="3801291" y="523606"/>
                </a:lnTo>
                <a:lnTo>
                  <a:pt x="3838558" y="519640"/>
                </a:lnTo>
                <a:lnTo>
                  <a:pt x="3875826" y="514369"/>
                </a:lnTo>
                <a:lnTo>
                  <a:pt x="3913094" y="489647"/>
                </a:lnTo>
                <a:lnTo>
                  <a:pt x="3950361" y="455355"/>
                </a:lnTo>
                <a:lnTo>
                  <a:pt x="3987629" y="437388"/>
                </a:lnTo>
                <a:lnTo>
                  <a:pt x="4024896" y="400041"/>
                </a:lnTo>
                <a:lnTo>
                  <a:pt x="4062164" y="378880"/>
                </a:lnTo>
                <a:lnTo>
                  <a:pt x="4099431" y="370982"/>
                </a:lnTo>
                <a:lnTo>
                  <a:pt x="4136699" y="364329"/>
                </a:lnTo>
                <a:lnTo>
                  <a:pt x="4173967" y="365914"/>
                </a:lnTo>
                <a:lnTo>
                  <a:pt x="4211234" y="373687"/>
                </a:lnTo>
                <a:lnTo>
                  <a:pt x="4248502" y="400853"/>
                </a:lnTo>
                <a:lnTo>
                  <a:pt x="4285769" y="424000"/>
                </a:lnTo>
                <a:lnTo>
                  <a:pt x="4323037" y="445063"/>
                </a:lnTo>
                <a:lnTo>
                  <a:pt x="4360304" y="469670"/>
                </a:lnTo>
                <a:lnTo>
                  <a:pt x="4397572" y="489007"/>
                </a:lnTo>
                <a:lnTo>
                  <a:pt x="4434840" y="505200"/>
                </a:lnTo>
              </a:path>
            </a:pathLst>
          </a:custGeom>
          <a:noFill/>
          <a:ln w="15240"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0" y="1874519"/>
            <a:ext cx="448056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2328"/>
                </a:solidFill>
                <a:latin typeface="Calibri"/>
              </a:rPr>
              <a:t>Same class (QPSK), I component, SNR +18 dB</a:t>
            </a:r>
          </a:p>
        </p:txBody>
      </p:sp>
      <p:sp>
        <p:nvSpPr>
          <p:cNvPr id="8" name="Freeform 7"/>
          <p:cNvSpPr/>
          <p:nvPr/>
        </p:nvSpPr>
        <p:spPr>
          <a:xfrm>
            <a:off x="6949440" y="3644404"/>
            <a:ext cx="4434840" cy="813296"/>
          </a:xfrm>
          <a:custGeom>
            <a:avLst/>
            <a:gdLst/>
            <a:ahLst/>
            <a:cxnLst/>
            <a:rect l="l" t="t" r="r" b="b"/>
            <a:pathLst>
              <a:path w="4434840" h="813296">
                <a:moveTo>
                  <a:pt x="0" y="459697"/>
                </a:moveTo>
                <a:lnTo>
                  <a:pt x="37267" y="269858"/>
                </a:lnTo>
                <a:lnTo>
                  <a:pt x="74535" y="423436"/>
                </a:lnTo>
                <a:lnTo>
                  <a:pt x="111802" y="56256"/>
                </a:lnTo>
                <a:lnTo>
                  <a:pt x="149070" y="241026"/>
                </a:lnTo>
                <a:lnTo>
                  <a:pt x="186337" y="411343"/>
                </a:lnTo>
                <a:lnTo>
                  <a:pt x="223605" y="372058"/>
                </a:lnTo>
                <a:lnTo>
                  <a:pt x="260872" y="278379"/>
                </a:lnTo>
                <a:lnTo>
                  <a:pt x="298140" y="522579"/>
                </a:lnTo>
                <a:lnTo>
                  <a:pt x="335408" y="445541"/>
                </a:lnTo>
                <a:lnTo>
                  <a:pt x="372675" y="231260"/>
                </a:lnTo>
                <a:lnTo>
                  <a:pt x="409943" y="504249"/>
                </a:lnTo>
                <a:lnTo>
                  <a:pt x="447210" y="306296"/>
                </a:lnTo>
                <a:lnTo>
                  <a:pt x="484478" y="410530"/>
                </a:lnTo>
                <a:lnTo>
                  <a:pt x="521745" y="183602"/>
                </a:lnTo>
                <a:lnTo>
                  <a:pt x="559013" y="403664"/>
                </a:lnTo>
                <a:lnTo>
                  <a:pt x="596281" y="333958"/>
                </a:lnTo>
                <a:lnTo>
                  <a:pt x="633548" y="450668"/>
                </a:lnTo>
                <a:lnTo>
                  <a:pt x="670816" y="172677"/>
                </a:lnTo>
                <a:lnTo>
                  <a:pt x="708083" y="350503"/>
                </a:lnTo>
                <a:lnTo>
                  <a:pt x="745351" y="503618"/>
                </a:lnTo>
                <a:lnTo>
                  <a:pt x="782618" y="562560"/>
                </a:lnTo>
                <a:lnTo>
                  <a:pt x="819886" y="226162"/>
                </a:lnTo>
                <a:lnTo>
                  <a:pt x="857153" y="310205"/>
                </a:lnTo>
                <a:lnTo>
                  <a:pt x="894421" y="625672"/>
                </a:lnTo>
                <a:lnTo>
                  <a:pt x="931689" y="535223"/>
                </a:lnTo>
                <a:lnTo>
                  <a:pt x="968956" y="296693"/>
                </a:lnTo>
                <a:lnTo>
                  <a:pt x="1006224" y="0"/>
                </a:lnTo>
                <a:lnTo>
                  <a:pt x="1043491" y="505122"/>
                </a:lnTo>
                <a:lnTo>
                  <a:pt x="1080759" y="507407"/>
                </a:lnTo>
                <a:lnTo>
                  <a:pt x="1118026" y="500594"/>
                </a:lnTo>
                <a:lnTo>
                  <a:pt x="1155294" y="303836"/>
                </a:lnTo>
                <a:lnTo>
                  <a:pt x="1192562" y="189129"/>
                </a:lnTo>
                <a:lnTo>
                  <a:pt x="1229829" y="397946"/>
                </a:lnTo>
                <a:lnTo>
                  <a:pt x="1267097" y="586675"/>
                </a:lnTo>
                <a:lnTo>
                  <a:pt x="1304364" y="34330"/>
                </a:lnTo>
                <a:lnTo>
                  <a:pt x="1341632" y="514510"/>
                </a:lnTo>
                <a:lnTo>
                  <a:pt x="1378899" y="418395"/>
                </a:lnTo>
                <a:lnTo>
                  <a:pt x="1416167" y="508103"/>
                </a:lnTo>
                <a:lnTo>
                  <a:pt x="1453434" y="520792"/>
                </a:lnTo>
                <a:lnTo>
                  <a:pt x="1490702" y="668823"/>
                </a:lnTo>
                <a:lnTo>
                  <a:pt x="1527970" y="365573"/>
                </a:lnTo>
                <a:lnTo>
                  <a:pt x="1565237" y="234274"/>
                </a:lnTo>
                <a:lnTo>
                  <a:pt x="1602505" y="186110"/>
                </a:lnTo>
                <a:lnTo>
                  <a:pt x="1639772" y="813296"/>
                </a:lnTo>
                <a:lnTo>
                  <a:pt x="1677040" y="425881"/>
                </a:lnTo>
                <a:lnTo>
                  <a:pt x="1714307" y="271937"/>
                </a:lnTo>
                <a:lnTo>
                  <a:pt x="1751575" y="611380"/>
                </a:lnTo>
                <a:lnTo>
                  <a:pt x="1788843" y="466400"/>
                </a:lnTo>
                <a:lnTo>
                  <a:pt x="1826110" y="125409"/>
                </a:lnTo>
                <a:lnTo>
                  <a:pt x="1863378" y="501570"/>
                </a:lnTo>
                <a:lnTo>
                  <a:pt x="1900645" y="309853"/>
                </a:lnTo>
                <a:lnTo>
                  <a:pt x="1937913" y="284296"/>
                </a:lnTo>
                <a:lnTo>
                  <a:pt x="1975180" y="173856"/>
                </a:lnTo>
                <a:lnTo>
                  <a:pt x="2012448" y="231566"/>
                </a:lnTo>
                <a:lnTo>
                  <a:pt x="2049715" y="381917"/>
                </a:lnTo>
                <a:lnTo>
                  <a:pt x="2086983" y="252143"/>
                </a:lnTo>
                <a:lnTo>
                  <a:pt x="2124251" y="531165"/>
                </a:lnTo>
                <a:lnTo>
                  <a:pt x="2161518" y="615462"/>
                </a:lnTo>
                <a:lnTo>
                  <a:pt x="2198786" y="317822"/>
                </a:lnTo>
                <a:lnTo>
                  <a:pt x="2236053" y="526567"/>
                </a:lnTo>
                <a:lnTo>
                  <a:pt x="2273321" y="249815"/>
                </a:lnTo>
                <a:lnTo>
                  <a:pt x="2310588" y="302669"/>
                </a:lnTo>
                <a:lnTo>
                  <a:pt x="2347856" y="322482"/>
                </a:lnTo>
                <a:lnTo>
                  <a:pt x="2385124" y="640287"/>
                </a:lnTo>
                <a:lnTo>
                  <a:pt x="2422391" y="388793"/>
                </a:lnTo>
                <a:lnTo>
                  <a:pt x="2459659" y="162043"/>
                </a:lnTo>
                <a:lnTo>
                  <a:pt x="2496926" y="560091"/>
                </a:lnTo>
                <a:lnTo>
                  <a:pt x="2534194" y="282798"/>
                </a:lnTo>
                <a:lnTo>
                  <a:pt x="2571461" y="619859"/>
                </a:lnTo>
                <a:lnTo>
                  <a:pt x="2608729" y="796647"/>
                </a:lnTo>
                <a:lnTo>
                  <a:pt x="2645996" y="173839"/>
                </a:lnTo>
                <a:lnTo>
                  <a:pt x="2683264" y="456934"/>
                </a:lnTo>
                <a:lnTo>
                  <a:pt x="2720532" y="386018"/>
                </a:lnTo>
                <a:lnTo>
                  <a:pt x="2757799" y="461395"/>
                </a:lnTo>
                <a:lnTo>
                  <a:pt x="2795067" y="404257"/>
                </a:lnTo>
                <a:lnTo>
                  <a:pt x="2832334" y="486857"/>
                </a:lnTo>
                <a:lnTo>
                  <a:pt x="2869602" y="440001"/>
                </a:lnTo>
                <a:lnTo>
                  <a:pt x="2906869" y="586847"/>
                </a:lnTo>
                <a:lnTo>
                  <a:pt x="2944137" y="346147"/>
                </a:lnTo>
                <a:lnTo>
                  <a:pt x="2981405" y="113033"/>
                </a:lnTo>
                <a:lnTo>
                  <a:pt x="3018672" y="377482"/>
                </a:lnTo>
                <a:lnTo>
                  <a:pt x="3055940" y="507539"/>
                </a:lnTo>
                <a:lnTo>
                  <a:pt x="3093207" y="409228"/>
                </a:lnTo>
                <a:lnTo>
                  <a:pt x="3130475" y="487981"/>
                </a:lnTo>
                <a:lnTo>
                  <a:pt x="3167742" y="257827"/>
                </a:lnTo>
                <a:lnTo>
                  <a:pt x="3205010" y="699770"/>
                </a:lnTo>
                <a:lnTo>
                  <a:pt x="3242277" y="291343"/>
                </a:lnTo>
                <a:lnTo>
                  <a:pt x="3279545" y="511005"/>
                </a:lnTo>
                <a:lnTo>
                  <a:pt x="3316813" y="676301"/>
                </a:lnTo>
                <a:lnTo>
                  <a:pt x="3354080" y="484331"/>
                </a:lnTo>
                <a:lnTo>
                  <a:pt x="3391348" y="379867"/>
                </a:lnTo>
                <a:lnTo>
                  <a:pt x="3428615" y="25857"/>
                </a:lnTo>
                <a:lnTo>
                  <a:pt x="3465883" y="279753"/>
                </a:lnTo>
                <a:lnTo>
                  <a:pt x="3503150" y="156213"/>
                </a:lnTo>
                <a:lnTo>
                  <a:pt x="3540418" y="550098"/>
                </a:lnTo>
                <a:lnTo>
                  <a:pt x="3577686" y="490498"/>
                </a:lnTo>
                <a:lnTo>
                  <a:pt x="3614953" y="519182"/>
                </a:lnTo>
                <a:lnTo>
                  <a:pt x="3652221" y="540287"/>
                </a:lnTo>
                <a:lnTo>
                  <a:pt x="3689488" y="526201"/>
                </a:lnTo>
                <a:lnTo>
                  <a:pt x="3726756" y="580608"/>
                </a:lnTo>
                <a:lnTo>
                  <a:pt x="3764023" y="665361"/>
                </a:lnTo>
                <a:lnTo>
                  <a:pt x="3801291" y="431864"/>
                </a:lnTo>
                <a:lnTo>
                  <a:pt x="3838558" y="164897"/>
                </a:lnTo>
                <a:lnTo>
                  <a:pt x="3875826" y="450496"/>
                </a:lnTo>
                <a:lnTo>
                  <a:pt x="3913094" y="381092"/>
                </a:lnTo>
                <a:lnTo>
                  <a:pt x="3950361" y="514876"/>
                </a:lnTo>
                <a:lnTo>
                  <a:pt x="3987629" y="512122"/>
                </a:lnTo>
                <a:lnTo>
                  <a:pt x="4024896" y="405341"/>
                </a:lnTo>
                <a:lnTo>
                  <a:pt x="4062164" y="614588"/>
                </a:lnTo>
                <a:lnTo>
                  <a:pt x="4099431" y="293047"/>
                </a:lnTo>
                <a:lnTo>
                  <a:pt x="4136699" y="387152"/>
                </a:lnTo>
                <a:lnTo>
                  <a:pt x="4173967" y="161988"/>
                </a:lnTo>
                <a:lnTo>
                  <a:pt x="4211234" y="252325"/>
                </a:lnTo>
                <a:lnTo>
                  <a:pt x="4248502" y="149636"/>
                </a:lnTo>
                <a:lnTo>
                  <a:pt x="4285769" y="431781"/>
                </a:lnTo>
                <a:lnTo>
                  <a:pt x="4323037" y="186607"/>
                </a:lnTo>
                <a:lnTo>
                  <a:pt x="4360304" y="329346"/>
                </a:lnTo>
                <a:lnTo>
                  <a:pt x="4397572" y="74598"/>
                </a:lnTo>
                <a:lnTo>
                  <a:pt x="4434840" y="417092"/>
                </a:lnTo>
              </a:path>
            </a:pathLst>
          </a:custGeom>
          <a:noFill/>
          <a:ln w="15240">
            <a:solidFill>
              <a:srgbClr val="5B6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3246120"/>
            <a:ext cx="448056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2328"/>
                </a:solidFill>
                <a:latin typeface="Calibri"/>
              </a:rPr>
              <a:t>Same class (QPSK), I component, SNR -10 dB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4389120"/>
            <a:ext cx="44805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B6470"/>
                </a:solidFill>
                <a:latin typeface="Calibri"/>
              </a:rPr>
              <a:t>Real test signals: the pattern visible at +18 dB is lost in noise at −10 dB</a:t>
            </a:r>
          </a:p>
        </p:txBody>
      </p:sp>
      <p:sp>
        <p:nvSpPr>
          <p:cNvPr id="11" name="Takeaway"/>
          <p:cNvSpPr/>
          <p:nvPr/>
        </p:nvSpPr>
        <p:spPr>
          <a:xfrm>
            <a:off x="548640" y="5166360"/>
            <a:ext cx="11109960" cy="868680"/>
          </a:xfrm>
          <a:prstGeom prst="roundRect">
            <a:avLst>
              <a:gd name="adj" fmla="val 8000"/>
            </a:avLst>
          </a:prstGeom>
          <a:solidFill>
            <a:srgbClr val="E7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600" b="1">
                <a:solidFill>
                  <a:srgbClr val="0E7C7B"/>
                </a:solidFill>
                <a:latin typeface="Calibri"/>
              </a:rPr>
              <a:t>Research question: </a:t>
            </a:r>
            <a:r>
              <a:rPr sz="1600" b="0">
                <a:solidFill>
                  <a:srgbClr val="1F2328"/>
                </a:solidFill>
                <a:latin typeface="Calibri"/>
              </a:rPr>
              <a:t>does self-supervised CNN masked-autoencoder (MAE) pretraining improve AMC when labelled data is limited, compared with training the same CNN from scratch?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470"/>
                </a:solidFill>
                <a:latin typeface="Calibri"/>
              </a:rPr>
              <a:t>Group 41 · 22AIE304 Deep Learning · CNN-MAE for low-label AMC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47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OBJECTIVES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F2328"/>
                </a:solidFill>
                <a:latin typeface="Cambria"/>
              </a:rPr>
              <a:t>Objectives: what we set out to do, and what was completed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11109960" cy="512064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82296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E7C7B"/>
                </a:solidFill>
                <a:latin typeface="Calibri"/>
              </a:rPr>
              <a:t>1.  </a:t>
            </a:r>
            <a:r>
              <a:rPr sz="1600" b="0" i="0">
                <a:solidFill>
                  <a:srgbClr val="1F2328"/>
                </a:solidFill>
                <a:latin typeface="Calibri"/>
              </a:rPr>
              <a:t>Build a CNN classifier trained from scratch (the baseline)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1572768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1E7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Completed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66544"/>
            <a:ext cx="11109960" cy="512064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57984"/>
            <a:ext cx="82296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E7C7B"/>
                </a:solidFill>
                <a:latin typeface="Calibri"/>
              </a:rPr>
              <a:t>2.  </a:t>
            </a:r>
            <a:r>
              <a:rPr sz="1600" b="0" i="0">
                <a:solidFill>
                  <a:srgbClr val="1F2328"/>
                </a:solidFill>
                <a:latin typeface="Calibri"/>
              </a:rPr>
              <a:t>Pretrain a CNN masked autoencoder on unlabelled raw IQ (1.79 M training signals)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0" y="2176272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1E7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Completed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70048"/>
            <a:ext cx="11109960" cy="512064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761488"/>
            <a:ext cx="82296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E7C7B"/>
                </a:solidFill>
                <a:latin typeface="Calibri"/>
              </a:rPr>
              <a:t>3.  </a:t>
            </a:r>
            <a:r>
              <a:rPr sz="1600" b="0" i="0">
                <a:solidFill>
                  <a:srgbClr val="1F2328"/>
                </a:solidFill>
                <a:latin typeface="Calibri"/>
              </a:rPr>
              <a:t>Compare both at 1%, 5%, 10%, 25% and 100% labelled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18320" y="2779776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1E7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Completed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273552"/>
            <a:ext cx="11109960" cy="512064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364992"/>
            <a:ext cx="82296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E7C7B"/>
                </a:solidFill>
                <a:latin typeface="Calibri"/>
              </a:rPr>
              <a:t>4.  </a:t>
            </a:r>
            <a:r>
              <a:rPr sz="1600" b="0" i="0">
                <a:solidFill>
                  <a:srgbClr val="1F2328"/>
                </a:solidFill>
                <a:latin typeface="Calibri"/>
              </a:rPr>
              <a:t>Analyse accuracy, macro-F1 and per-SNR behaviour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18320" y="3383280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1E7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Completed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77056"/>
            <a:ext cx="11109960" cy="512064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968496"/>
            <a:ext cx="82296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E7C7B"/>
                </a:solidFill>
                <a:latin typeface="Calibri"/>
              </a:rPr>
              <a:t>5.  </a:t>
            </a:r>
            <a:r>
              <a:rPr sz="1600" b="0" i="0">
                <a:solidFill>
                  <a:srgbClr val="1F2328"/>
                </a:solidFill>
                <a:latin typeface="Calibri"/>
              </a:rPr>
              <a:t>Investigate longer classifier fine-tuning (50 and 100 epochs, 1% labels)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18320" y="3986784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9A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Completed · exploratory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480560"/>
            <a:ext cx="11109960" cy="512064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572000"/>
            <a:ext cx="82296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E7C7B"/>
                </a:solidFill>
                <a:latin typeface="Calibri"/>
              </a:rPr>
              <a:t>6.  </a:t>
            </a:r>
            <a:r>
              <a:rPr sz="1600" b="0" i="0">
                <a:solidFill>
                  <a:srgbClr val="1F2328"/>
                </a:solidFill>
                <a:latin typeface="Calibri"/>
              </a:rPr>
              <a:t>Cross-dataset transfer to RadioML 2016.10a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18320" y="4590288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8A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Completed · separate study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084064"/>
            <a:ext cx="11109960" cy="512064"/>
          </a:xfrm>
          <a:prstGeom prst="roundRect">
            <a:avLst>
              <a:gd name="adj" fmla="val 8000"/>
            </a:avLst>
          </a:prstGeom>
          <a:solidFill>
            <a:srgbClr val="F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175504"/>
            <a:ext cx="82296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E7C7B"/>
                </a:solidFill>
                <a:latin typeface="Calibri"/>
              </a:rPr>
              <a:t>7.  </a:t>
            </a:r>
            <a:r>
              <a:rPr sz="1600" b="0" i="0">
                <a:solidFill>
                  <a:srgbClr val="1F2328"/>
                </a:solidFill>
                <a:latin typeface="Calibri"/>
              </a:rPr>
              <a:t>Linear probe with a frozen encoder; test whether reconstruction error predicts accuracy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18320" y="5193792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A13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Not done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779008"/>
            <a:ext cx="1106424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B6470"/>
                </a:solidFill>
                <a:latin typeface="Calibri"/>
              </a:rPr>
              <a:t>Objectives 6–7 came from the mid-review plan. The transfer study is reported separately (11 classes, 128-sample signals): the transferred encoder was 0.009–0.012 macro-F1 below scratch at every budget.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470"/>
                </a:solidFill>
                <a:latin typeface="Calibri"/>
              </a:rPr>
              <a:t>Group 41 · 22AIE304 Deep Learning · CNN-MAE for low-label AMC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47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LITERATURE REVIEW AND RESEARCH GAP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F2328"/>
                </a:solidFill>
                <a:latin typeface="Cambria"/>
              </a:rPr>
              <a:t>Raw-IQ MAE exists; a controlled evaluation is missing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110996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794760"/>
                <a:gridCol w="4572000"/>
              </a:tblGrid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Study</a:t>
                      </a:r>
                    </a:p>
                  </a:txBody>
                  <a:tcPr anchor="ctr" marL="73152" marR="73152" marT="27432" marB="27432">
                    <a:solidFill>
                      <a:srgbClr val="1F23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Approach</a:t>
                      </a:r>
                    </a:p>
                  </a:txBody>
                  <a:tcPr anchor="ctr" marL="73152" marR="73152" marT="27432" marB="27432">
                    <a:solidFill>
                      <a:srgbClr val="1F23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Relevance / limitation for our question</a:t>
                      </a:r>
                    </a:p>
                  </a:txBody>
                  <a:tcPr anchor="ctr" marL="73152" marR="73152" marT="27432" marB="27432">
                    <a:solidFill>
                      <a:srgbClr val="1F232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2328"/>
                          </a:solidFill>
                          <a:latin typeface="Calibri"/>
                        </a:rPr>
                        <a:t>O'Shea, Roy &amp; Clancy (2018)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Supervised deep CNN on raw IQ; introduced RadioML 2018.01A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Strong baseline, but needs fully labelled data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2328"/>
                          </a:solidFill>
                          <a:latin typeface="Calibri"/>
                        </a:rPr>
                        <a:t>Liu et al. (2021)</a:t>
                      </a:r>
                    </a:p>
                  </a:txBody>
                  <a:tcPr anchor="ctr" marL="73152" marR="73152" marT="27432" marB="27432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Self-contrastive pretraining + fine-tuning</a:t>
                      </a:r>
                    </a:p>
                  </a:txBody>
                  <a:tcPr anchor="ctr" marL="73152" marR="73152" marT="27432" marB="27432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Uses unlabelled signals; contrastive, not masked reconstruction</a:t>
                      </a:r>
                    </a:p>
                  </a:txBody>
                  <a:tcPr anchor="ctr" marL="73152" marR="73152" marT="27432" marB="27432">
                    <a:solidFill>
                      <a:srgbClr val="F7F8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2328"/>
                          </a:solidFill>
                          <a:latin typeface="Calibri"/>
                        </a:rPr>
                        <a:t>He et al. (2022)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Masked autoencoders (ViT) for images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Established masked reconstruction as SSL; built for images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2328"/>
                          </a:solidFill>
                          <a:latin typeface="Calibri"/>
                        </a:rPr>
                        <a:t>Shi et al. (2024), GAF-MAE</a:t>
                      </a:r>
                    </a:p>
                  </a:txBody>
                  <a:tcPr anchor="ctr" marL="73152" marR="73152" marT="27432" marB="27432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MAE on Gramian Angular Field images of signals</a:t>
                      </a:r>
                    </a:p>
                  </a:txBody>
                  <a:tcPr anchor="ctr" marL="73152" marR="73152" marT="27432" marB="27432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Signals converted to images, not raw IQ</a:t>
                      </a:r>
                    </a:p>
                  </a:txBody>
                  <a:tcPr anchor="ctr" marL="73152" marR="73152" marT="27432" marB="27432">
                    <a:solidFill>
                      <a:srgbClr val="F7F8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2328"/>
                          </a:solidFill>
                          <a:latin typeface="Calibri"/>
                        </a:rPr>
                        <a:t>Liu et al. (2025), RIS-MAE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MAE directly on raw IQ for AMC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Closest prior work: proposes the method; not our controlled multi-budget comparison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akeaway"/>
          <p:cNvSpPr/>
          <p:nvPr/>
        </p:nvSpPr>
        <p:spPr>
          <a:xfrm>
            <a:off x="548640" y="4846320"/>
            <a:ext cx="11109960" cy="1188720"/>
          </a:xfrm>
          <a:prstGeom prst="roundRect">
            <a:avLst>
              <a:gd name="adj" fmla="val 8000"/>
            </a:avLst>
          </a:prstGeom>
          <a:solidFill>
            <a:srgbClr val="E7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600" b="1">
                <a:solidFill>
                  <a:srgbClr val="0E7C7B"/>
                </a:solidFill>
                <a:latin typeface="Calibri"/>
              </a:rPr>
              <a:t>Gap we address: </a:t>
            </a:r>
            <a:r>
              <a:rPr sz="1600" b="0">
                <a:solidFill>
                  <a:srgbClr val="1F2328"/>
                </a:solidFill>
                <a:latin typeface="Calibri"/>
              </a:rPr>
              <a:t>does raw-IQ MAE pretraining help </a:t>
            </a:r>
            <a:r>
              <a:rPr sz="1600" b="1">
                <a:solidFill>
                  <a:srgbClr val="1F2328"/>
                </a:solidFill>
                <a:latin typeface="Calibri"/>
              </a:rPr>
              <a:t>consistently</a:t>
            </a:r>
            <a:r>
              <a:rPr sz="1600" b="0">
                <a:solidFill>
                  <a:srgbClr val="1F2328"/>
                </a:solidFill>
                <a:latin typeface="Calibri"/>
              </a:rPr>
              <a:t> across label budgets, random seeds and SNR levels, when compared with a like-for-like scratch baseline that shares the same CNN backbone and training recipe?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470"/>
                </a:solidFill>
                <a:latin typeface="Calibri"/>
              </a:rPr>
              <a:t>Group 41 · 22AIE304 Deep Learning · CNN-MAE for low-label AMC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47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NOVELTY AND CONTRIBUTIONS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F2328"/>
                </a:solidFill>
                <a:latin typeface="Cambria"/>
              </a:rPr>
              <a:t>Our contribution: a careful experiment, not a new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3520440" cy="155448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91639"/>
            <a:ext cx="310896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E7C7B"/>
                </a:solidFill>
                <a:latin typeface="Calibri"/>
              </a:rPr>
              <a:t>Controlled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30552"/>
            <a:ext cx="3108960" cy="868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328"/>
                </a:solidFill>
                <a:latin typeface="Calibri"/>
              </a:rPr>
              <a:t>Scratch vs CNN-MAE with the same backbone, data and fine-tuning recipe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79" y="1508760"/>
            <a:ext cx="3520440" cy="155448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79" y="1691639"/>
            <a:ext cx="310896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E7C7B"/>
                </a:solidFill>
                <a:latin typeface="Calibri"/>
              </a:rPr>
              <a:t>Five label budgets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79" y="2130552"/>
            <a:ext cx="3108960" cy="868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328"/>
                </a:solidFill>
                <a:latin typeface="Calibri"/>
              </a:rPr>
              <a:t>1%, 5%, 10%, 25%, 100%; nested, class-balanced subsets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19" y="1508760"/>
            <a:ext cx="3520440" cy="155448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19" y="1691639"/>
            <a:ext cx="310896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E7C7B"/>
                </a:solidFill>
                <a:latin typeface="Calibri"/>
              </a:rPr>
              <a:t>Seed-level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19" y="2130552"/>
            <a:ext cx="3108960" cy="868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328"/>
                </a:solidFill>
                <a:latin typeface="Calibri"/>
              </a:rPr>
              <a:t>3 paired seeds at 1–10%; paired differences and a paired t-test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291839"/>
            <a:ext cx="3520440" cy="155448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474720"/>
            <a:ext cx="310896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E7C7B"/>
                </a:solidFill>
                <a:latin typeface="Calibri"/>
              </a:rPr>
              <a:t>Per-SNR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913631"/>
            <a:ext cx="3108960" cy="868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328"/>
                </a:solidFill>
                <a:latin typeface="Calibri"/>
              </a:rPr>
              <a:t>Accuracy across all 26 SNR levels, with the low-SNR band examined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79" y="3291839"/>
            <a:ext cx="3520440" cy="155448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79" y="3474720"/>
            <a:ext cx="310896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E7C7B"/>
                </a:solidFill>
                <a:latin typeface="Calibri"/>
              </a:rPr>
              <a:t>Longer fine-tuning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79" y="3913631"/>
            <a:ext cx="3108960" cy="868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328"/>
                </a:solidFill>
                <a:latin typeface="Calibri"/>
              </a:rPr>
              <a:t>Exploratory 50- and 100-epoch follow-ups at 1%, three seeds each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19" y="3291839"/>
            <a:ext cx="3520440" cy="155448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19" y="3474720"/>
            <a:ext cx="310896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E7C7B"/>
                </a:solidFill>
                <a:latin typeface="Calibri"/>
              </a:rPr>
              <a:t>Reproducible 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19" y="3913631"/>
            <a:ext cx="3108960" cy="868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328"/>
                </a:solidFill>
                <a:latin typeface="Calibri"/>
              </a:rPr>
              <a:t>Manifests and hashes, verified figures, a working Streamlit demo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66360"/>
            <a:ext cx="11109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285232"/>
            <a:ext cx="1069848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A1372E"/>
                </a:solidFill>
                <a:latin typeface="Calibri"/>
              </a:rPr>
              <a:t>Not claimed: </a:t>
            </a:r>
            <a:r>
              <a:rPr sz="1500" b="0" i="0">
                <a:solidFill>
                  <a:srgbClr val="1F2328"/>
                </a:solidFill>
                <a:latin typeface="Calibri"/>
              </a:rPr>
              <a:t>a new MAE architecture, the first raw-IQ MAE (RIS-MAE, 2025, came first), or state-of-the-art accuracy. Our encoder is a small patch-based CNN (55,544 parameters).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470"/>
                </a:solidFill>
                <a:latin typeface="Calibri"/>
              </a:rPr>
              <a:t>Group 41 · 22AIE304 Deep Learning · CNN-MAE for low-label AMC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47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DATASET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F2328"/>
                </a:solidFill>
                <a:latin typeface="Cambria"/>
              </a:rPr>
              <a:t>RadioML 2018.01A: 2.56 M labelled IQ signals, 24 classes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265176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E7C7B"/>
                </a:solidFill>
                <a:latin typeface="Cambria"/>
              </a:rPr>
              <a:t>2,555,904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48840"/>
            <a:ext cx="265176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470"/>
                </a:solidFill>
                <a:latin typeface="Calibri"/>
              </a:rPr>
              <a:t>IQ signals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64992" y="1463040"/>
            <a:ext cx="265176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E7C7B"/>
                </a:solidFill>
                <a:latin typeface="Cambria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64992" y="2148840"/>
            <a:ext cx="265176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470"/>
                </a:solidFill>
                <a:latin typeface="Calibri"/>
              </a:rPr>
              <a:t>modulation classes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1344" y="1463040"/>
            <a:ext cx="265176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E7C7B"/>
                </a:solidFill>
                <a:latin typeface="Cambria"/>
              </a:rPr>
              <a:t>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1344" y="2148840"/>
            <a:ext cx="265176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470"/>
                </a:solidFill>
                <a:latin typeface="Calibri"/>
              </a:rPr>
              <a:t>SNR levels, −20 to +30 dB (2 dB steps)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97696" y="1463040"/>
            <a:ext cx="265176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E7C7B"/>
                </a:solidFill>
                <a:latin typeface="Cambria"/>
              </a:rPr>
              <a:t>2 × 1,024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97696" y="2148840"/>
            <a:ext cx="265176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470"/>
                </a:solidFill>
                <a:latin typeface="Calibri"/>
              </a:rPr>
              <a:t>I/Q channels × time samples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926080"/>
            <a:ext cx="5486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F2328"/>
                </a:solidFill>
                <a:latin typeface="Calibri"/>
              </a:rPr>
              <a:t>Fixed split (70 / 15 / 15)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291840"/>
            <a:ext cx="7735824" cy="457200"/>
          </a:xfrm>
          <a:prstGeom prst="roundRect">
            <a:avLst>
              <a:gd name="adj" fmla="val 8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Train 1,789,132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3291840"/>
            <a:ext cx="1627632" cy="457200"/>
          </a:xfrm>
          <a:prstGeom prst="roundRect">
            <a:avLst>
              <a:gd name="adj" fmla="val 8000"/>
            </a:avLst>
          </a:prstGeom>
          <a:solidFill>
            <a:srgbClr val="6F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Val 383,386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85248" y="3291840"/>
            <a:ext cx="1636776" cy="457200"/>
          </a:xfrm>
          <a:prstGeom prst="roundRect">
            <a:avLst>
              <a:gd name="adj" fmla="val 8000"/>
            </a:avLst>
          </a:prstGeom>
          <a:solidFill>
            <a:srgbClr val="1F2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Test 383,386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48640" y="4069080"/>
          <a:ext cx="7680960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005840"/>
                <a:gridCol w="1005840"/>
                <a:gridCol w="1097280"/>
                <a:gridCol w="1097280"/>
                <a:gridCol w="109728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Label budget</a:t>
                      </a:r>
                    </a:p>
                  </a:txBody>
                  <a:tcPr anchor="ctr" marL="73152" marR="73152" marT="27432" marB="27432">
                    <a:solidFill>
                      <a:srgbClr val="1F23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1%</a:t>
                      </a:r>
                    </a:p>
                  </a:txBody>
                  <a:tcPr anchor="ctr" marL="73152" marR="73152" marT="27432" marB="27432">
                    <a:solidFill>
                      <a:srgbClr val="1F23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5%</a:t>
                      </a:r>
                    </a:p>
                  </a:txBody>
                  <a:tcPr anchor="ctr" marL="73152" marR="73152" marT="27432" marB="27432">
                    <a:solidFill>
                      <a:srgbClr val="1F23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 anchor="ctr" marL="73152" marR="73152" marT="27432" marB="27432">
                    <a:solidFill>
                      <a:srgbClr val="1F23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25%</a:t>
                      </a:r>
                    </a:p>
                  </a:txBody>
                  <a:tcPr anchor="ctr" marL="73152" marR="73152" marT="27432" marB="27432">
                    <a:solidFill>
                      <a:srgbClr val="1F23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anchor="ctr" marL="73152" marR="73152" marT="27432" marB="27432">
                    <a:solidFill>
                      <a:srgbClr val="1F232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Labelled training signals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17,883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89,451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178,914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447,281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1,789,132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Seeds (primary)</a:t>
                      </a:r>
                    </a:p>
                  </a:txBody>
                  <a:tcPr anchor="ctr" marL="73152" marR="73152" marT="27432" marB="27432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73152" marR="73152" marT="27432" marB="27432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73152" marR="73152" marT="27432" marB="27432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73152" marR="73152" marT="27432" marB="27432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8503920" y="4069080"/>
            <a:ext cx="3154680" cy="1152144"/>
          </a:xfrm>
          <a:prstGeom prst="roundRect">
            <a:avLst>
              <a:gd name="adj" fmla="val 8000"/>
            </a:avLst>
          </a:prstGeom>
          <a:solidFill>
            <a:srgbClr val="FFF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41080" y="4142232"/>
            <a:ext cx="2926080" cy="10515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9A6200"/>
                </a:solidFill>
                <a:latin typeface="Calibri"/>
              </a:rPr>
              <a:t>Secondary: RadioML 2016.10a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F2328"/>
                </a:solidFill>
                <a:latin typeface="Calibri"/>
              </a:rPr>
              <a:t>220,000 signals · 11 classes · 2 × 128. Used only for the separate transfer study.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486400"/>
            <a:ext cx="1106424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B6470"/>
                </a:solidFill>
                <a:latin typeface="Calibri"/>
              </a:rPr>
              <a:t>Source: DeepSig RadioML 2018.01A (O'Shea, Roy &amp; Clancy, 2018; deepsig.ai/datasets). Validation for checkpoint selection uses a fixed 12,480-signal subset (20 per class × SNR) of the validation split.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470"/>
                </a:solidFill>
                <a:latin typeface="Calibri"/>
              </a:rPr>
              <a:t>Group 41 · 22AIE304 Deep Learning · CNN-MAE for low-label AMC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47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DATA PREPROCESSING AND LEAKAGE PREVENTION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F2328"/>
                </a:solidFill>
                <a:latin typeface="Cambria"/>
              </a:rPr>
              <a:t>Raw IQ input, fixed partitions, no test data in training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2011680" cy="169164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600" b="1">
                <a:solidFill>
                  <a:srgbClr val="0E7C7B"/>
                </a:solidFill>
                <a:latin typeface="Calibri"/>
              </a:rPr>
              <a:t>Load</a:t>
            </a:r>
          </a:p>
          <a:p>
            <a:pPr algn="ctr"/>
            <a:r>
              <a:rPr sz="1300">
                <a:solidFill>
                  <a:srgbClr val="5B6470"/>
                </a:solidFill>
                <a:latin typeface="Calibri"/>
              </a:rPr>
              <a:t>HDF5 → float32 [1,024 × 2], transposed to [2 × 1,024]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34640" y="1508760"/>
            <a:ext cx="2011680" cy="169164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600" b="1">
                <a:solidFill>
                  <a:srgbClr val="0E7C7B"/>
                </a:solidFill>
                <a:latin typeface="Calibri"/>
              </a:rPr>
              <a:t>Labels</a:t>
            </a:r>
          </a:p>
          <a:p>
            <a:pPr algn="ctr"/>
            <a:r>
              <a:rPr sz="1300">
                <a:solidFill>
                  <a:srgbClr val="5B6470"/>
                </a:solidFill>
                <a:latin typeface="Calibri"/>
              </a:rPr>
              <a:t>One-hot → class index; SNR kept for splitting and analysis</a:t>
            </a:r>
          </a:p>
        </p:txBody>
      </p:sp>
      <p:cxnSp>
        <p:nvCxnSpPr>
          <p:cNvPr id="6" name="Connector 5"/>
          <p:cNvCxnSpPr>
            <a:stCxn id="4" idx="3"/>
            <a:endCxn id="5" idx="1"/>
          </p:cNvCxnSpPr>
          <p:nvPr/>
        </p:nvCxnSpPr>
        <p:spPr>
          <a:xfrm flipV="1">
            <a:off x="2560320" y="2354580"/>
            <a:ext cx="274320" cy="0"/>
          </a:xfrm>
          <a:prstGeom prst="line">
            <a:avLst/>
          </a:prstGeom>
          <a:ln w="20320">
            <a:solidFill>
              <a:srgbClr val="5B64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120640" y="1508760"/>
            <a:ext cx="2011680" cy="169164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600" b="1">
                <a:solidFill>
                  <a:srgbClr val="0E7C7B"/>
                </a:solidFill>
                <a:latin typeface="Calibri"/>
              </a:rPr>
              <a:t>Split</a:t>
            </a:r>
          </a:p>
          <a:p>
            <a:pPr algn="ctr"/>
            <a:r>
              <a:rPr sz="1300">
                <a:solidFill>
                  <a:srgbClr val="5B6470"/>
                </a:solidFill>
                <a:latin typeface="Calibri"/>
              </a:rPr>
              <a:t>70/15/15, stratified by class × SNR, seed 42</a:t>
            </a:r>
          </a:p>
        </p:txBody>
      </p:sp>
      <p:cxnSp>
        <p:nvCxnSpPr>
          <p:cNvPr id="8" name="Connector 7"/>
          <p:cNvCxnSpPr>
            <a:stCxn id="5" idx="3"/>
            <a:endCxn id="7" idx="1"/>
          </p:cNvCxnSpPr>
          <p:nvPr/>
        </p:nvCxnSpPr>
        <p:spPr>
          <a:xfrm flipV="1">
            <a:off x="4846320" y="2354580"/>
            <a:ext cx="274320" cy="0"/>
          </a:xfrm>
          <a:prstGeom prst="line">
            <a:avLst/>
          </a:prstGeom>
          <a:ln w="20320">
            <a:solidFill>
              <a:srgbClr val="5B64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406640" y="1508760"/>
            <a:ext cx="2011680" cy="169164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600" b="1">
                <a:solidFill>
                  <a:srgbClr val="0E7C7B"/>
                </a:solidFill>
                <a:latin typeface="Calibri"/>
              </a:rPr>
              <a:t>Label budgets</a:t>
            </a:r>
          </a:p>
          <a:p>
            <a:pPr algn="ctr"/>
            <a:r>
              <a:rPr sz="1300">
                <a:solidFill>
                  <a:srgbClr val="5B6470"/>
                </a:solidFill>
                <a:latin typeface="Calibri"/>
              </a:rPr>
              <a:t>Nested, class-balanced subsets of the training split, drawn once</a:t>
            </a:r>
          </a:p>
        </p:txBody>
      </p:sp>
      <p:cxnSp>
        <p:nvCxnSpPr>
          <p:cNvPr id="10" name="Connector 9"/>
          <p:cNvCxnSpPr>
            <a:stCxn id="7" idx="3"/>
            <a:endCxn id="9" idx="1"/>
          </p:cNvCxnSpPr>
          <p:nvPr/>
        </p:nvCxnSpPr>
        <p:spPr>
          <a:xfrm flipV="1">
            <a:off x="7132320" y="2354580"/>
            <a:ext cx="274320" cy="0"/>
          </a:xfrm>
          <a:prstGeom prst="line">
            <a:avLst/>
          </a:prstGeom>
          <a:ln w="20320">
            <a:solidFill>
              <a:srgbClr val="5B64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692640" y="1508760"/>
            <a:ext cx="2011680" cy="169164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600" b="1">
                <a:solidFill>
                  <a:srgbClr val="0E7C7B"/>
                </a:solidFill>
                <a:latin typeface="Calibri"/>
              </a:rPr>
              <a:t>Model input</a:t>
            </a:r>
          </a:p>
          <a:p>
            <a:pPr algn="ctr"/>
            <a:r>
              <a:rPr sz="1300">
                <a:solidFill>
                  <a:srgbClr val="5B6470"/>
                </a:solidFill>
                <a:latin typeface="Calibri"/>
              </a:rPr>
              <a:t>Raw values: no normalisation, augmentation or hand-crafted features</a:t>
            </a:r>
          </a:p>
        </p:txBody>
      </p:sp>
      <p:cxnSp>
        <p:nvCxnSpPr>
          <p:cNvPr id="12" name="Connector 11"/>
          <p:cNvCxnSpPr>
            <a:stCxn id="9" idx="3"/>
            <a:endCxn id="11" idx="1"/>
          </p:cNvCxnSpPr>
          <p:nvPr/>
        </p:nvCxnSpPr>
        <p:spPr>
          <a:xfrm flipV="1">
            <a:off x="9418320" y="2354580"/>
            <a:ext cx="274320" cy="0"/>
          </a:xfrm>
          <a:prstGeom prst="line">
            <a:avLst/>
          </a:prstGeom>
          <a:ln w="20320">
            <a:solidFill>
              <a:srgbClr val="5B64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3520440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F2328"/>
                </a:solidFill>
                <a:latin typeface="Calibri"/>
              </a:rPr>
              <a:t>Leakage controls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931920"/>
            <a:ext cx="6766560" cy="21945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 marL="201168" indent="-182880">
              <a:spcAft>
                <a:spcPts val="800"/>
              </a:spcAft>
              <a:buChar char="•"/>
            </a:pPr>
            <a:r>
              <a:rPr sz="1500" b="0" i="0">
                <a:solidFill>
                  <a:srgbClr val="1F2328"/>
                </a:solidFill>
                <a:latin typeface="Calibri"/>
              </a:rPr>
              <a:t>Train, validation and test indices are disjoint (checked), and the same for every budget and seed</a:t>
            </a:r>
          </a:p>
          <a:p>
            <a:pPr algn="l" marL="201168" indent="-182880">
              <a:spcAft>
                <a:spcPts val="800"/>
              </a:spcAft>
              <a:buChar char="•"/>
            </a:pPr>
            <a:r>
              <a:rPr sz="1500" b="0" i="0">
                <a:solidFill>
                  <a:srgbClr val="1F2328"/>
                </a:solidFill>
                <a:latin typeface="Calibri"/>
              </a:rPr>
              <a:t>MAE pretraining sees only training signals, without labels; its checkpoint is chosen by validation MSE</a:t>
            </a:r>
          </a:p>
          <a:p>
            <a:pPr algn="l" marL="201168" indent="-182880">
              <a:spcAft>
                <a:spcPts val="800"/>
              </a:spcAft>
              <a:buChar char="•"/>
            </a:pPr>
            <a:r>
              <a:rPr sz="1500" b="0" i="0">
                <a:solidFill>
                  <a:srgbClr val="1F2328"/>
                </a:solidFill>
                <a:latin typeface="Calibri"/>
              </a:rPr>
              <a:t>Classifier checkpoints are chosen by validation macro-F1 on the fixed 12,480-signal subset</a:t>
            </a:r>
          </a:p>
          <a:p>
            <a:pPr algn="l" marL="201168" indent="-182880">
              <a:spcAft>
                <a:spcPts val="800"/>
              </a:spcAft>
              <a:buChar char="•"/>
            </a:pPr>
            <a:r>
              <a:rPr sz="1500" b="0" i="0">
                <a:solidFill>
                  <a:srgbClr val="1F2328"/>
                </a:solidFill>
                <a:latin typeface="Calibri"/>
              </a:rPr>
              <a:t>The 383,386 test signals are evaluated once per selected model, after training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3566160"/>
            <a:ext cx="3977639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3657600"/>
            <a:ext cx="3657600" cy="2286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2328"/>
                </a:solidFill>
                <a:latin typeface="Calibri"/>
              </a:rPr>
              <a:t>Checked vs not claimed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F2328"/>
                </a:solidFill>
                <a:latin typeface="Calibri"/>
              </a:rPr>
              <a:t>Loader rejects non-finite samples and invalid one-hot labels. </a:t>
            </a:r>
            <a:r>
              <a:rPr sz="1300" b="0" i="0">
                <a:solidFill>
                  <a:srgbClr val="1F2328"/>
                </a:solidFill>
                <a:latin typeface="Calibri"/>
              </a:rPr>
              <a:t>Label subsets are balanced by class, not by SNR. </a:t>
            </a:r>
            <a:r>
              <a:rPr sz="1300" b="0" i="0">
                <a:solidFill>
                  <a:srgbClr val="1F2328"/>
                </a:solidFill>
                <a:latin typeface="Calibri"/>
              </a:rPr>
              <a:t>No duplicate or missing-value filtering is performed.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470"/>
                </a:solidFill>
                <a:latin typeface="Calibri"/>
              </a:rPr>
              <a:t>Group 41 · 22AIE304 Deep Learning · CNN-MAE for low-label AMC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47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PROPOSED SYSTEM ARCHITECTURE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F2328"/>
                </a:solidFill>
                <a:latin typeface="Cambria"/>
              </a:rPr>
              <a:t>One CNN backbone; the two paths differ only in encoder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EB6834"/>
                </a:solidFill>
                <a:latin typeface="Calibri"/>
              </a:rPr>
              <a:t>STAGE 1 · SELF-SUPERVISED PRETRAINING (CNN-MAE only, no labels, 5 epochs)</a:t>
            </a:r>
          </a:p>
        </p:txBody>
      </p:sp>
      <p:sp>
        <p:nvSpPr>
          <p:cNvPr id="5" name="pre_0"/>
          <p:cNvSpPr/>
          <p:nvPr/>
        </p:nvSpPr>
        <p:spPr>
          <a:xfrm>
            <a:off x="548640" y="1691640"/>
            <a:ext cx="1920240" cy="868680"/>
          </a:xfrm>
          <a:prstGeom prst="roundRect">
            <a:avLst>
              <a:gd name="adj" fmla="val 8000"/>
            </a:avLst>
          </a:prstGeom>
          <a:solidFill>
            <a:srgbClr val="FD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>
                <a:solidFill>
                  <a:srgbClr val="1F2328"/>
                </a:solidFill>
                <a:latin typeface="Calibri"/>
              </a:rPr>
              <a:t>Raw IQ</a:t>
            </a:r>
          </a:p>
          <a:p>
            <a:pPr algn="ctr"/>
            <a:r>
              <a:rPr sz="1100">
                <a:solidFill>
                  <a:srgbClr val="1F2328"/>
                </a:solidFill>
                <a:latin typeface="Calibri"/>
              </a:rPr>
              <a:t>2 × 1,024, train split</a:t>
            </a:r>
          </a:p>
        </p:txBody>
      </p:sp>
      <p:sp>
        <p:nvSpPr>
          <p:cNvPr id="6" name="pre_1"/>
          <p:cNvSpPr/>
          <p:nvPr/>
        </p:nvSpPr>
        <p:spPr>
          <a:xfrm>
            <a:off x="2834640" y="1691640"/>
            <a:ext cx="1920240" cy="868680"/>
          </a:xfrm>
          <a:prstGeom prst="roundRect">
            <a:avLst>
              <a:gd name="adj" fmla="val 8000"/>
            </a:avLst>
          </a:prstGeom>
          <a:solidFill>
            <a:srgbClr val="FD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>
                <a:solidFill>
                  <a:srgbClr val="1F2328"/>
                </a:solidFill>
                <a:latin typeface="Calibri"/>
              </a:rPr>
              <a:t>16 patches × 64</a:t>
            </a:r>
          </a:p>
          <a:p>
            <a:pPr algn="ctr"/>
            <a:r>
              <a:rPr sz="1100">
                <a:solidFill>
                  <a:srgbClr val="1F2328"/>
                </a:solidFill>
                <a:latin typeface="Calibri"/>
              </a:rPr>
              <a:t>mask 50%, keep 8</a:t>
            </a:r>
          </a:p>
        </p:txBody>
      </p:sp>
      <p:sp>
        <p:nvSpPr>
          <p:cNvPr id="7" name="pre_2"/>
          <p:cNvSpPr/>
          <p:nvPr/>
        </p:nvSpPr>
        <p:spPr>
          <a:xfrm>
            <a:off x="5120640" y="1691640"/>
            <a:ext cx="1920240" cy="868680"/>
          </a:xfrm>
          <a:prstGeom prst="roundRect">
            <a:avLst>
              <a:gd name="adj" fmla="val 8000"/>
            </a:avLst>
          </a:prstGeom>
          <a:solidFill>
            <a:srgbClr val="FD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>
                <a:solidFill>
                  <a:srgbClr val="1F2328"/>
                </a:solidFill>
                <a:latin typeface="Calibri"/>
              </a:rPr>
              <a:t>CNN patch encoder</a:t>
            </a:r>
          </a:p>
          <a:p>
            <a:pPr algn="ctr"/>
            <a:r>
              <a:rPr sz="1100">
                <a:solidFill>
                  <a:srgbClr val="1F2328"/>
                </a:solidFill>
                <a:latin typeface="Calibri"/>
              </a:rPr>
              <a:t>visible patches only</a:t>
            </a:r>
          </a:p>
        </p:txBody>
      </p:sp>
      <p:sp>
        <p:nvSpPr>
          <p:cNvPr id="8" name="pre_3"/>
          <p:cNvSpPr/>
          <p:nvPr/>
        </p:nvSpPr>
        <p:spPr>
          <a:xfrm>
            <a:off x="7406640" y="1691640"/>
            <a:ext cx="1920240" cy="868680"/>
          </a:xfrm>
          <a:prstGeom prst="roundRect">
            <a:avLst>
              <a:gd name="adj" fmla="val 8000"/>
            </a:avLst>
          </a:prstGeom>
          <a:solidFill>
            <a:srgbClr val="FD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>
                <a:solidFill>
                  <a:srgbClr val="1F2328"/>
                </a:solidFill>
                <a:latin typeface="Calibri"/>
              </a:rPr>
              <a:t>Transformer decoder</a:t>
            </a:r>
          </a:p>
          <a:p>
            <a:pPr algn="ctr"/>
            <a:r>
              <a:rPr sz="1100">
                <a:solidFill>
                  <a:srgbClr val="1F2328"/>
                </a:solidFill>
                <a:latin typeface="Calibri"/>
              </a:rPr>
              <a:t>2 layers + mask tokens</a:t>
            </a:r>
          </a:p>
        </p:txBody>
      </p:sp>
      <p:sp>
        <p:nvSpPr>
          <p:cNvPr id="9" name="pre_4"/>
          <p:cNvSpPr/>
          <p:nvPr/>
        </p:nvSpPr>
        <p:spPr>
          <a:xfrm>
            <a:off x="9692640" y="1691640"/>
            <a:ext cx="1920240" cy="868680"/>
          </a:xfrm>
          <a:prstGeom prst="roundRect">
            <a:avLst>
              <a:gd name="adj" fmla="val 8000"/>
            </a:avLst>
          </a:prstGeom>
          <a:solidFill>
            <a:srgbClr val="FD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>
                <a:solidFill>
                  <a:srgbClr val="1F2328"/>
                </a:solidFill>
                <a:latin typeface="Calibri"/>
              </a:rPr>
              <a:t>Reconstruct masked</a:t>
            </a:r>
          </a:p>
          <a:p>
            <a:pPr algn="ctr"/>
            <a:r>
              <a:rPr sz="1100">
                <a:solidFill>
                  <a:srgbClr val="1F2328"/>
                </a:solidFill>
                <a:latin typeface="Calibri"/>
              </a:rPr>
              <a:t>MSE on masked only</a:t>
            </a:r>
          </a:p>
        </p:txBody>
      </p:sp>
      <p:cxnSp>
        <p:nvCxnSpPr>
          <p:cNvPr id="10" name="Connector 9"/>
          <p:cNvCxnSpPr>
            <a:stCxn id="5" idx="3"/>
            <a:endCxn id="6" idx="1"/>
          </p:cNvCxnSpPr>
          <p:nvPr/>
        </p:nvCxnSpPr>
        <p:spPr>
          <a:xfrm flipV="1">
            <a:off x="2468880" y="2125980"/>
            <a:ext cx="365760" cy="0"/>
          </a:xfrm>
          <a:prstGeom prst="line">
            <a:avLst/>
          </a:prstGeom>
          <a:ln w="20320">
            <a:solidFill>
              <a:srgbClr val="EB683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>
            <a:stCxn id="6" idx="3"/>
            <a:endCxn id="7" idx="1"/>
          </p:cNvCxnSpPr>
          <p:nvPr/>
        </p:nvCxnSpPr>
        <p:spPr>
          <a:xfrm flipV="1">
            <a:off x="4754880" y="2125980"/>
            <a:ext cx="365760" cy="0"/>
          </a:xfrm>
          <a:prstGeom prst="line">
            <a:avLst/>
          </a:prstGeom>
          <a:ln w="20320">
            <a:solidFill>
              <a:srgbClr val="EB683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>
            <a:stCxn id="7" idx="3"/>
            <a:endCxn id="8" idx="1"/>
          </p:cNvCxnSpPr>
          <p:nvPr/>
        </p:nvCxnSpPr>
        <p:spPr>
          <a:xfrm flipV="1">
            <a:off x="7040880" y="2125980"/>
            <a:ext cx="365760" cy="0"/>
          </a:xfrm>
          <a:prstGeom prst="line">
            <a:avLst/>
          </a:prstGeom>
          <a:ln w="20320">
            <a:solidFill>
              <a:srgbClr val="EB683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>
            <a:stCxn id="8" idx="3"/>
            <a:endCxn id="9" idx="1"/>
          </p:cNvCxnSpPr>
          <p:nvPr/>
        </p:nvCxnSpPr>
        <p:spPr>
          <a:xfrm flipV="1">
            <a:off x="9326880" y="2125980"/>
            <a:ext cx="365760" cy="0"/>
          </a:xfrm>
          <a:prstGeom prst="line">
            <a:avLst/>
          </a:prstGeom>
          <a:ln w="20320">
            <a:solidFill>
              <a:srgbClr val="EB683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8640" y="2834640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2328"/>
                </a:solidFill>
                <a:latin typeface="Calibri"/>
              </a:rPr>
              <a:t>STAGE 2 · SUPERVISED FINE-TUNING (both paths, same labelled subset and recipe)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355848"/>
            <a:ext cx="137160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EB6834"/>
                </a:solidFill>
                <a:latin typeface="Calibri"/>
              </a:rPr>
              <a:t>Path B</a:t>
            </a:r>
          </a:p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EB6834"/>
                </a:solidFill>
                <a:latin typeface="Calibri"/>
              </a:rPr>
              <a:t>CNN-MAE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544568"/>
            <a:ext cx="137160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A78D6"/>
                </a:solidFill>
                <a:latin typeface="Calibri"/>
              </a:rPr>
              <a:t>Path A</a:t>
            </a:r>
          </a:p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A78D6"/>
                </a:solidFill>
                <a:latin typeface="Calibri"/>
              </a:rPr>
              <a:t>Scratch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691640" y="3246120"/>
            <a:ext cx="1920240" cy="77724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>
                <a:solidFill>
                  <a:srgbClr val="1F2328"/>
                </a:solidFill>
                <a:latin typeface="Calibri"/>
              </a:rPr>
              <a:t>Labelled subset</a:t>
            </a:r>
          </a:p>
          <a:p>
            <a:pPr algn="ctr"/>
            <a:r>
              <a:rPr sz="1100">
                <a:solidFill>
                  <a:srgbClr val="5B6470"/>
                </a:solidFill>
                <a:latin typeface="Calibri"/>
              </a:rPr>
              <a:t>1–100% of train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0640" y="3246120"/>
            <a:ext cx="1920240" cy="777240"/>
          </a:xfrm>
          <a:prstGeom prst="roundRect">
            <a:avLst>
              <a:gd name="adj" fmla="val 8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Pretrained encoder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Calibri"/>
              </a:rPr>
              <a:t>weights from stage 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40" y="3246120"/>
            <a:ext cx="1920240" cy="77724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>
                <a:solidFill>
                  <a:srgbClr val="1F2328"/>
                </a:solidFill>
                <a:latin typeface="Calibri"/>
              </a:rPr>
              <a:t>Mean-pool → linear</a:t>
            </a:r>
          </a:p>
          <a:p>
            <a:pPr algn="ctr"/>
            <a:r>
              <a:rPr sz="1100">
                <a:solidFill>
                  <a:srgbClr val="5B6470"/>
                </a:solidFill>
                <a:latin typeface="Calibri"/>
              </a:rPr>
              <a:t>16 patches → 24 classes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691640" y="4434840"/>
            <a:ext cx="1920240" cy="77724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>
                <a:solidFill>
                  <a:srgbClr val="1F2328"/>
                </a:solidFill>
                <a:latin typeface="Calibri"/>
              </a:rPr>
              <a:t>Labelled subset</a:t>
            </a:r>
          </a:p>
          <a:p>
            <a:pPr algn="ctr"/>
            <a:r>
              <a:rPr sz="1100">
                <a:solidFill>
                  <a:srgbClr val="5B6470"/>
                </a:solidFill>
                <a:latin typeface="Calibri"/>
              </a:rPr>
              <a:t>same indices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0640" y="4434840"/>
            <a:ext cx="1920240" cy="777240"/>
          </a:xfrm>
          <a:prstGeom prst="roundRect">
            <a:avLst>
              <a:gd name="adj" fmla="val 8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Random-init encoder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Calibri"/>
              </a:rPr>
              <a:t>same architecture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06640" y="4434840"/>
            <a:ext cx="1920240" cy="77724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>
                <a:solidFill>
                  <a:srgbClr val="1F2328"/>
                </a:solidFill>
                <a:latin typeface="Calibri"/>
              </a:rPr>
              <a:t>Mean-pool → linear</a:t>
            </a:r>
          </a:p>
          <a:p>
            <a:pPr algn="ctr"/>
            <a:r>
              <a:rPr sz="1100">
                <a:solidFill>
                  <a:srgbClr val="5B6470"/>
                </a:solidFill>
                <a:latin typeface="Calibri"/>
              </a:rPr>
              <a:t>16 patches → 24 classes</a:t>
            </a:r>
          </a:p>
        </p:txBody>
      </p:sp>
      <p:cxnSp>
        <p:nvCxnSpPr>
          <p:cNvPr id="23" name="Connector 22"/>
          <p:cNvCxnSpPr>
            <a:stCxn id="17" idx="3"/>
            <a:endCxn id="18" idx="1"/>
          </p:cNvCxnSpPr>
          <p:nvPr/>
        </p:nvCxnSpPr>
        <p:spPr>
          <a:xfrm flipV="1">
            <a:off x="3611880" y="3634740"/>
            <a:ext cx="1508760" cy="0"/>
          </a:xfrm>
          <a:prstGeom prst="line">
            <a:avLst/>
          </a:prstGeom>
          <a:ln w="20320">
            <a:solidFill>
              <a:srgbClr val="5B64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>
            <a:stCxn id="18" idx="3"/>
            <a:endCxn id="19" idx="1"/>
          </p:cNvCxnSpPr>
          <p:nvPr/>
        </p:nvCxnSpPr>
        <p:spPr>
          <a:xfrm flipV="1">
            <a:off x="7040880" y="3634740"/>
            <a:ext cx="365760" cy="0"/>
          </a:xfrm>
          <a:prstGeom prst="line">
            <a:avLst/>
          </a:prstGeom>
          <a:ln w="20320">
            <a:solidFill>
              <a:srgbClr val="5B64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>
            <a:stCxn id="20" idx="3"/>
            <a:endCxn id="21" idx="1"/>
          </p:cNvCxnSpPr>
          <p:nvPr/>
        </p:nvCxnSpPr>
        <p:spPr>
          <a:xfrm flipV="1">
            <a:off x="3611880" y="4823460"/>
            <a:ext cx="1508760" cy="0"/>
          </a:xfrm>
          <a:prstGeom prst="line">
            <a:avLst/>
          </a:prstGeom>
          <a:ln w="20320">
            <a:solidFill>
              <a:srgbClr val="5B64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>
            <a:stCxn id="21" idx="3"/>
            <a:endCxn id="22" idx="1"/>
          </p:cNvCxnSpPr>
          <p:nvPr/>
        </p:nvCxnSpPr>
        <p:spPr>
          <a:xfrm flipV="1">
            <a:off x="7040880" y="4823460"/>
            <a:ext cx="365760" cy="0"/>
          </a:xfrm>
          <a:prstGeom prst="line">
            <a:avLst/>
          </a:prstGeom>
          <a:ln w="20320">
            <a:solidFill>
              <a:srgbClr val="5B64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784080" y="3246120"/>
            <a:ext cx="1874519" cy="1965960"/>
          </a:xfrm>
          <a:prstGeom prst="roundRect">
            <a:avLst>
              <a:gd name="adj" fmla="val 8000"/>
            </a:avLst>
          </a:prstGeom>
          <a:solidFill>
            <a:srgbClr val="1F2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Evaluate &amp; compare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Calibri"/>
              </a:rPr>
              <a:t>val macro-F1 → pick epoch; test once (383,386)</a:t>
            </a:r>
          </a:p>
        </p:txBody>
      </p:sp>
      <p:cxnSp>
        <p:nvCxnSpPr>
          <p:cNvPr id="28" name="Connector 27"/>
          <p:cNvCxnSpPr>
            <a:stCxn id="19" idx="3"/>
            <a:endCxn id="27" idx="1"/>
          </p:cNvCxnSpPr>
          <p:nvPr/>
        </p:nvCxnSpPr>
        <p:spPr>
          <a:xfrm>
            <a:off x="9326880" y="3634740"/>
            <a:ext cx="457200" cy="594360"/>
          </a:xfrm>
          <a:prstGeom prst="line">
            <a:avLst/>
          </a:prstGeom>
          <a:ln w="20320">
            <a:solidFill>
              <a:srgbClr val="5B64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>
            <a:stCxn id="22" idx="3"/>
            <a:endCxn id="27" idx="1"/>
          </p:cNvCxnSpPr>
          <p:nvPr/>
        </p:nvCxnSpPr>
        <p:spPr>
          <a:xfrm flipV="1">
            <a:off x="9326880" y="4229100"/>
            <a:ext cx="457200" cy="594360"/>
          </a:xfrm>
          <a:prstGeom prst="line">
            <a:avLst/>
          </a:prstGeom>
          <a:ln w="20320">
            <a:solidFill>
              <a:srgbClr val="5B64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>
            <a:stCxn id="7" idx="2"/>
            <a:endCxn id="18" idx="0"/>
          </p:cNvCxnSpPr>
          <p:nvPr/>
        </p:nvCxnSpPr>
        <p:spPr>
          <a:xfrm flipH="1">
            <a:off x="6080760" y="2560320"/>
            <a:ext cx="0" cy="685800"/>
          </a:xfrm>
          <a:prstGeom prst="line">
            <a:avLst/>
          </a:prstGeom>
          <a:ln w="27940">
            <a:solidFill>
              <a:srgbClr val="EB6834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263640" y="2743200"/>
            <a:ext cx="29260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1">
                <a:solidFill>
                  <a:srgbClr val="EB6834"/>
                </a:solidFill>
                <a:latin typeface="Calibri"/>
              </a:rPr>
              <a:t>transfer encoder weights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486400"/>
            <a:ext cx="1106424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B6470"/>
                </a:solidFill>
                <a:latin typeface="Calibri"/>
              </a:rPr>
              <a:t>Encoder per 64-sample patch: 3 × (Conv1d → BatchNorm → GELU), max-pooling, global average pool, linear → 128-d. The whole classifier (encoder + head) is fine-tuned in both paths. The decoder and positional embeddings are used only in pretraining.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470"/>
                </a:solidFill>
                <a:latin typeface="Calibri"/>
              </a:rPr>
              <a:t>Group 41 · 22AIE304 Deep Learning · CNN-MAE for low-label AMC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47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METHODOLOGY AND EXPERIMENTAL SETUP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F2328"/>
                </a:solidFill>
                <a:latin typeface="Cambria"/>
              </a:rPr>
              <a:t>Same fine-tuning recipe; only the initialisation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4480560" cy="4206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 marL="201168" indent="-182880">
              <a:spcAft>
                <a:spcPts val="1200"/>
              </a:spcAft>
              <a:buChar char="•"/>
            </a:pPr>
            <a:r>
              <a:rPr sz="1600" b="1" i="0">
                <a:solidFill>
                  <a:srgbClr val="1F2328"/>
                </a:solidFill>
                <a:latin typeface="Calibri"/>
              </a:rPr>
              <a:t>Why a CNN: </a:t>
            </a:r>
            <a:r>
              <a:rPr sz="1600" b="0" i="0">
                <a:solidFill>
                  <a:srgbClr val="1F2328"/>
                </a:solidFill>
                <a:latin typeface="Calibri"/>
              </a:rPr>
              <a:t>1-D convolutions learn local phase/amplitude patterns directly from raw I/Q</a:t>
            </a:r>
          </a:p>
          <a:p>
            <a:pPr algn="l" marL="201168" indent="-182880">
              <a:spcAft>
                <a:spcPts val="1200"/>
              </a:spcAft>
              <a:buChar char="•"/>
            </a:pPr>
            <a:r>
              <a:rPr sz="1600" b="1" i="0">
                <a:solidFill>
                  <a:srgbClr val="1F2328"/>
                </a:solidFill>
                <a:latin typeface="Calibri"/>
              </a:rPr>
              <a:t>Self-supervised signal: </a:t>
            </a:r>
            <a:r>
              <a:rPr sz="1600" b="0" i="0">
                <a:solidFill>
                  <a:srgbClr val="1F2328"/>
                </a:solidFill>
                <a:latin typeface="Calibri"/>
              </a:rPr>
              <a:t>hide half of the 16 patches and reconstruct them from the visible half</a:t>
            </a:r>
          </a:p>
          <a:p>
            <a:pPr algn="l" marL="201168" indent="-182880">
              <a:spcAft>
                <a:spcPts val="1200"/>
              </a:spcAft>
              <a:buChar char="•"/>
            </a:pPr>
            <a:r>
              <a:rPr sz="1600" b="1" i="0">
                <a:solidFill>
                  <a:srgbClr val="1F2328"/>
                </a:solidFill>
                <a:latin typeface="Calibri"/>
              </a:rPr>
              <a:t>Transfer: </a:t>
            </a:r>
            <a:r>
              <a:rPr sz="1600" b="0" i="0">
                <a:solidFill>
                  <a:srgbClr val="1F2328"/>
                </a:solidFill>
                <a:latin typeface="Calibri"/>
              </a:rPr>
              <a:t>copy the pretrained encoder; add a fresh linear head; fine-tune everything</a:t>
            </a:r>
          </a:p>
          <a:p>
            <a:pPr algn="l" marL="201168" indent="-182880">
              <a:spcAft>
                <a:spcPts val="1200"/>
              </a:spcAft>
              <a:buChar char="•"/>
            </a:pPr>
            <a:r>
              <a:rPr sz="1600" b="1" i="0">
                <a:solidFill>
                  <a:srgbClr val="1F2328"/>
                </a:solidFill>
                <a:latin typeface="Calibri"/>
              </a:rPr>
              <a:t>Scratch baseline: </a:t>
            </a:r>
            <a:r>
              <a:rPr sz="1600" b="0" i="0">
                <a:solidFill>
                  <a:srgbClr val="1F2328"/>
                </a:solidFill>
                <a:latin typeface="Calibri"/>
              </a:rPr>
              <a:t>same model and recipe from random initialisation, so any gap is due to pretraining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303520" y="1463040"/>
          <a:ext cx="6355080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2514600"/>
                <a:gridCol w="2606040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Setting</a:t>
                      </a:r>
                    </a:p>
                  </a:txBody>
                  <a:tcPr anchor="ctr" marL="73152" marR="73152" marT="27432" marB="27432">
                    <a:solidFill>
                      <a:srgbClr val="1F23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MAE pretraining</a:t>
                      </a:r>
                    </a:p>
                  </a:txBody>
                  <a:tcPr anchor="ctr" marL="73152" marR="73152" marT="27432" marB="27432">
                    <a:solidFill>
                      <a:srgbClr val="1F23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Classifier fine-tuning</a:t>
                      </a:r>
                    </a:p>
                  </a:txBody>
                  <a:tcPr anchor="ctr" marL="73152" marR="73152" marT="27432" marB="27432">
                    <a:solidFill>
                      <a:srgbClr val="1F232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Data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1,789,132 train signals, no labels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labelled subset (1–100%)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Loss</a:t>
                      </a:r>
                    </a:p>
                  </a:txBody>
                  <a:tcPr anchor="ctr" marL="73152" marR="73152" marT="27432" marB="27432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MSE on masked patches</a:t>
                      </a:r>
                    </a:p>
                  </a:txBody>
                  <a:tcPr anchor="ctr" marL="73152" marR="73152" marT="27432" marB="27432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cross-entropy</a:t>
                      </a:r>
                    </a:p>
                  </a:txBody>
                  <a:tcPr anchor="ctr" marL="73152" marR="73152" marT="27432" marB="27432">
                    <a:solidFill>
                      <a:srgbClr val="F7F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Optimiser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AdamW, lr 1e-4, wd 1e-4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AdamW, lr 1e-3, wd 1e-4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Schedule</a:t>
                      </a:r>
                    </a:p>
                  </a:txBody>
                  <a:tcPr anchor="ctr" marL="73152" marR="73152" marT="27432" marB="27432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cosine, 5 epochs, batch 64</a:t>
                      </a:r>
                    </a:p>
                  </a:txBody>
                  <a:tcPr anchor="ctr" marL="73152" marR="73152" marT="27432" marB="27432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cosine, batch 128, grad-clip 1.0, FP16</a:t>
                      </a:r>
                    </a:p>
                  </a:txBody>
                  <a:tcPr anchor="ctr" marL="73152" marR="73152" marT="27432" marB="27432">
                    <a:solidFill>
                      <a:srgbClr val="F7F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Epochs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2328"/>
                          </a:solidFill>
                          <a:latin typeface="Calibri"/>
                        </a:rPr>
                        <a:t>10 primary · 50 / 100 exploratory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Selection</a:t>
                      </a:r>
                    </a:p>
                  </a:txBody>
                  <a:tcPr anchor="ctr" marL="73152" marR="73152" marT="27432" marB="27432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lowest validation MSE (epoch 5)</a:t>
                      </a:r>
                    </a:p>
                  </a:txBody>
                  <a:tcPr anchor="ctr" marL="73152" marR="73152" marT="27432" marB="27432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best validation macro-F1 (12,480)</a:t>
                      </a:r>
                    </a:p>
                  </a:txBody>
                  <a:tcPr anchor="ctr" marL="73152" marR="73152" marT="27432" marB="27432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303520" y="4937760"/>
            <a:ext cx="635508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B6470"/>
                </a:solidFill>
                <a:latin typeface="Calibri"/>
              </a:rPr>
              <a:t>Environment: Python 3.11, PyTorch 2.10.0 + CUDA 12.6, NVIDIA RTX 4050 Laptop GPU (6 GB). Pretraining took 4.9 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715000"/>
            <a:ext cx="3383280" cy="292608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PRIMARY = 10 epochs, pre-specified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5715000"/>
            <a:ext cx="3931920" cy="292608"/>
          </a:xfrm>
          <a:prstGeom prst="roundRect">
            <a:avLst>
              <a:gd name="adj" fmla="val 50000"/>
            </a:avLst>
          </a:prstGeom>
          <a:solidFill>
            <a:srgbClr val="FFF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100" b="1">
                <a:solidFill>
                  <a:srgbClr val="9A6200"/>
                </a:solidFill>
                <a:latin typeface="Calibri"/>
              </a:rPr>
              <a:t>EXPLORATORY = 50 / 100 epochs, added later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470"/>
                </a:solidFill>
                <a:latin typeface="Calibri"/>
              </a:rPr>
              <a:t>Group 41 · 22AIE304 Deep Learning · CNN-MAE for low-label AMC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47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PRIMARY EXPERIMENT · TEST SET (383,386 SIGNALS)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F2328"/>
                </a:solidFill>
                <a:latin typeface="Cambria"/>
              </a:rPr>
              <a:t>Primary result: modest gain at 5%, no consistent advantage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463040"/>
          <a:ext cx="5669280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394960"/>
            <a:ext cx="566928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B6470"/>
                </a:solidFill>
                <a:latin typeface="Calibri"/>
              </a:rPr>
              <a:t>Mean over seeds (3 at 1–10%, 1 at 25% and 100%). The y-axis starts at 0.20.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37960" y="1463040"/>
          <a:ext cx="5120640" cy="2523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/>
                <a:gridCol w="685800"/>
                <a:gridCol w="914400"/>
                <a:gridCol w="960120"/>
                <a:gridCol w="868680"/>
                <a:gridCol w="914400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Labels</a:t>
                      </a:r>
                    </a:p>
                  </a:txBody>
                  <a:tcPr anchor="ctr" marL="73152" marR="73152" marT="27432" marB="27432">
                    <a:solidFill>
                      <a:srgbClr val="1F23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Seeds</a:t>
                      </a:r>
                    </a:p>
                  </a:txBody>
                  <a:tcPr anchor="ctr" marL="73152" marR="73152" marT="27432" marB="27432">
                    <a:solidFill>
                      <a:srgbClr val="1F23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Scratch</a:t>
                      </a:r>
                    </a:p>
                  </a:txBody>
                  <a:tcPr anchor="ctr" marL="73152" marR="73152" marT="27432" marB="27432">
                    <a:solidFill>
                      <a:srgbClr val="1F23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CNN-MAE</a:t>
                      </a:r>
                    </a:p>
                  </a:txBody>
                  <a:tcPr anchor="ctr" marL="73152" marR="73152" marT="27432" marB="27432">
                    <a:solidFill>
                      <a:srgbClr val="1F23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Δ F1</a:t>
                      </a:r>
                    </a:p>
                  </a:txBody>
                  <a:tcPr anchor="ctr" marL="73152" marR="73152" marT="27432" marB="27432">
                    <a:solidFill>
                      <a:srgbClr val="1F23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Δ acc.</a:t>
                      </a:r>
                    </a:p>
                  </a:txBody>
                  <a:tcPr anchor="ctr" marL="73152" marR="73152" marT="27432" marB="27432">
                    <a:solidFill>
                      <a:srgbClr val="1F232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1%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0.2577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0.2566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A1372E"/>
                          </a:solidFill>
                          <a:latin typeface="Calibri"/>
                        </a:rPr>
                        <a:t>-0.0011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+0.0041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5%</a:t>
                      </a:r>
                    </a:p>
                  </a:txBody>
                  <a:tcPr anchor="ctr" marL="73152" marR="73152" marT="27432" marB="27432">
                    <a:solidFill>
                      <a:srgbClr val="E7F3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73152" marR="73152" marT="27432" marB="27432">
                    <a:solidFill>
                      <a:srgbClr val="E7F3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0.3199</a:t>
                      </a:r>
                    </a:p>
                  </a:txBody>
                  <a:tcPr anchor="ctr" marL="73152" marR="73152" marT="27432" marB="27432">
                    <a:solidFill>
                      <a:srgbClr val="E7F3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0.3320</a:t>
                      </a:r>
                    </a:p>
                  </a:txBody>
                  <a:tcPr anchor="ctr" marL="73152" marR="73152" marT="27432" marB="27432">
                    <a:solidFill>
                      <a:srgbClr val="E7F3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E7B4A"/>
                          </a:solidFill>
                          <a:latin typeface="Calibri"/>
                        </a:rPr>
                        <a:t>+0.0121</a:t>
                      </a:r>
                    </a:p>
                  </a:txBody>
                  <a:tcPr anchor="ctr" marL="73152" marR="73152" marT="27432" marB="27432">
                    <a:solidFill>
                      <a:srgbClr val="E7F3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+0.0106</a:t>
                      </a:r>
                    </a:p>
                  </a:txBody>
                  <a:tcPr anchor="ctr" marL="73152" marR="73152" marT="27432" marB="27432">
                    <a:solidFill>
                      <a:srgbClr val="E7F3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0.3583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0.3571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A1372E"/>
                          </a:solidFill>
                          <a:latin typeface="Calibri"/>
                        </a:rPr>
                        <a:t>-0.0012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+0.0031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25%</a:t>
                      </a:r>
                    </a:p>
                  </a:txBody>
                  <a:tcPr anchor="ctr" marL="73152" marR="73152" marT="27432" marB="27432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0.3630</a:t>
                      </a:r>
                    </a:p>
                  </a:txBody>
                  <a:tcPr anchor="ctr" marL="73152" marR="73152" marT="27432" marB="27432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0.3629</a:t>
                      </a:r>
                    </a:p>
                  </a:txBody>
                  <a:tcPr anchor="ctr" marL="73152" marR="73152" marT="27432" marB="27432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A1372E"/>
                          </a:solidFill>
                          <a:latin typeface="Calibri"/>
                        </a:rPr>
                        <a:t>-0.0002</a:t>
                      </a:r>
                    </a:p>
                  </a:txBody>
                  <a:tcPr anchor="ctr" marL="73152" marR="73152" marT="27432" marB="27432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+0.0028</a:t>
                      </a:r>
                    </a:p>
                  </a:txBody>
                  <a:tcPr anchor="ctr" marL="73152" marR="73152" marT="27432" marB="27432">
                    <a:solidFill>
                      <a:srgbClr val="F7F8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0.3821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0.3838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7B4A"/>
                          </a:solidFill>
                          <a:latin typeface="Calibri"/>
                        </a:rPr>
                        <a:t>+0.0017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328"/>
                          </a:solidFill>
                          <a:latin typeface="Calibri"/>
                        </a:rPr>
                        <a:t>+0.0017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37960" y="4069080"/>
            <a:ext cx="51206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B6470"/>
                </a:solidFill>
                <a:latin typeface="Calibri"/>
              </a:rPr>
              <a:t>Δ = CNN-MAE − scratch (F1 = macro-F1, acc. = accuracy). Macro-F1 = unweighted mean of per-class F1 over 24 classes.</a:t>
            </a:r>
          </a:p>
        </p:txBody>
      </p:sp>
      <p:sp>
        <p:nvSpPr>
          <p:cNvPr id="8" name="Takeaway"/>
          <p:cNvSpPr/>
          <p:nvPr/>
        </p:nvSpPr>
        <p:spPr>
          <a:xfrm>
            <a:off x="6537960" y="4526280"/>
            <a:ext cx="5120640" cy="1325880"/>
          </a:xfrm>
          <a:prstGeom prst="roundRect">
            <a:avLst>
              <a:gd name="adj" fmla="val 8000"/>
            </a:avLst>
          </a:prstGeom>
          <a:solidFill>
            <a:srgbClr val="E7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600" b="1">
                <a:solidFill>
                  <a:srgbClr val="0E7C7B"/>
                </a:solidFill>
                <a:latin typeface="Calibri"/>
              </a:rPr>
              <a:t>5%: +0.0121 macro-F1</a:t>
            </a:r>
            <a:r>
              <a:rPr sz="1500" b="0">
                <a:solidFill>
                  <a:srgbClr val="1F2328"/>
                </a:solidFill>
                <a:latin typeface="Calibri"/>
              </a:rPr>
              <a:t> (2 of 3 seeds; paired t-test p = 0.29, not significant). At 1%, 10% and 25% MAE is marginally lower.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470"/>
                </a:solidFill>
                <a:latin typeface="Calibri"/>
              </a:rPr>
              <a:t>Group 41 · 22AIE304 Deep Learning · CNN-MAE for low-label AMC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47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PRIMARY EXPERIMENT · PER-SNR TEST ACCURACY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F2328"/>
                </a:solidFill>
                <a:latin typeface="Cambria"/>
              </a:rPr>
              <a:t>Pretraining helps most at −8 to 0 dB with few labels</a:t>
            </a:r>
          </a:p>
        </p:txBody>
      </p:sp>
      <p:pic>
        <p:nvPicPr>
          <p:cNvPr id="4" name="Picture 3" descr="fig4_primary_per_snr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10515600" cy="3199844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4589732"/>
          <a:ext cx="74066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377440"/>
                <a:gridCol w="2057400"/>
                <a:gridCol w="205740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Labels</a:t>
                      </a:r>
                    </a:p>
                  </a:txBody>
                  <a:tcPr anchor="ctr" marL="73152" marR="73152" marT="27432" marB="27432">
                    <a:solidFill>
                      <a:srgbClr val="1F23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−20 to −10 dB acc. (scratch / MAE)</a:t>
                      </a:r>
                    </a:p>
                  </a:txBody>
                  <a:tcPr anchor="ctr" marL="73152" marR="73152" marT="27432" marB="27432">
                    <a:solidFill>
                      <a:srgbClr val="1F23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−8 to 0 dB: Δ acc.</a:t>
                      </a:r>
                    </a:p>
                  </a:txBody>
                  <a:tcPr anchor="ctr" marL="73152" marR="73152" marT="27432" marB="27432">
                    <a:solidFill>
                      <a:srgbClr val="1F23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≥ 10 dB: Δ acc.</a:t>
                      </a:r>
                    </a:p>
                  </a:txBody>
                  <a:tcPr anchor="ctr" marL="73152" marR="73152" marT="27432" marB="27432">
                    <a:solidFill>
                      <a:srgbClr val="1F232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1%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0.042 / 0.042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E7B4A"/>
                          </a:solidFill>
                          <a:latin typeface="Calibri"/>
                        </a:rPr>
                        <a:t>+2.6 pp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-0.4 pp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5%</a:t>
                      </a:r>
                    </a:p>
                  </a:txBody>
                  <a:tcPr anchor="ctr" marL="73152" marR="73152" marT="27432" marB="27432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0.045 / 0.045</a:t>
                      </a:r>
                    </a:p>
                  </a:txBody>
                  <a:tcPr anchor="ctr" marL="73152" marR="73152" marT="27432" marB="27432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E7B4A"/>
                          </a:solidFill>
                          <a:latin typeface="Calibri"/>
                        </a:rPr>
                        <a:t>+2.8 pp</a:t>
                      </a:r>
                    </a:p>
                  </a:txBody>
                  <a:tcPr anchor="ctr" marL="73152" marR="73152" marT="27432" marB="27432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+1.0 pp</a:t>
                      </a:r>
                    </a:p>
                  </a:txBody>
                  <a:tcPr anchor="ctr" marL="73152" marR="73152" marT="27432" marB="27432">
                    <a:solidFill>
                      <a:srgbClr val="F7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0.044 / 0.049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E7B4A"/>
                          </a:solidFill>
                          <a:latin typeface="Calibri"/>
                        </a:rPr>
                        <a:t>+1.5 pp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-0.1 pp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25%</a:t>
                      </a:r>
                    </a:p>
                  </a:txBody>
                  <a:tcPr anchor="ctr" marL="73152" marR="73152" marT="27432" marB="27432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0.051 / 0.052</a:t>
                      </a:r>
                    </a:p>
                  </a:txBody>
                  <a:tcPr anchor="ctr" marL="73152" marR="73152" marT="27432" marB="27432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E7B4A"/>
                          </a:solidFill>
                          <a:latin typeface="Calibri"/>
                        </a:rPr>
                        <a:t>+0.7 pp</a:t>
                      </a:r>
                    </a:p>
                  </a:txBody>
                  <a:tcPr anchor="ctr" marL="73152" marR="73152" marT="27432" marB="27432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+0.2 pp</a:t>
                      </a:r>
                    </a:p>
                  </a:txBody>
                  <a:tcPr anchor="ctr" marL="73152" marR="73152" marT="27432" marB="27432">
                    <a:solidFill>
                      <a:srgbClr val="F7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0.054 / 0.057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E7B4A"/>
                          </a:solidFill>
                          <a:latin typeface="Calibri"/>
                        </a:rPr>
                        <a:t>+0.4 pp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+0.1 pp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akeaway"/>
          <p:cNvSpPr/>
          <p:nvPr/>
        </p:nvSpPr>
        <p:spPr>
          <a:xfrm>
            <a:off x="8183879" y="4589732"/>
            <a:ext cx="3474720" cy="1719628"/>
          </a:xfrm>
          <a:prstGeom prst="roundRect">
            <a:avLst>
              <a:gd name="adj" fmla="val 8000"/>
            </a:avLst>
          </a:prstGeom>
          <a:solidFill>
            <a:srgbClr val="E7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300" b="1">
                <a:solidFill>
                  <a:srgbClr val="0E7C7B"/>
                </a:solidFill>
                <a:latin typeface="Calibri"/>
              </a:rPr>
              <a:t>Descriptive only: </a:t>
            </a:r>
            <a:r>
              <a:rPr sz="1300" b="0">
                <a:solidFill>
                  <a:srgbClr val="1F2328"/>
                </a:solidFill>
                <a:latin typeface="Calibri"/>
              </a:rPr>
              <a:t>MAE's accuracy edge is largest at low-moderate SNR with few labels (+2.6 to +2.8 percentage points at 1–5%) and fades with more labels. Below −10 dB both are at chance (1/24 ≈ 0.042). Means over seeds; no per-SNR uncertainty.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470"/>
                </a:solidFill>
                <a:latin typeface="Calibri"/>
              </a:rPr>
              <a:t>Group 41 · 22AIE304 Deep Learning · CNN-MAE for low-label AMC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47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EXPLORATORY FOLLOW-UPS · 1% LABELS · 3 SEEDS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F2328"/>
                </a:solidFill>
                <a:latin typeface="Cambria"/>
              </a:rPr>
              <a:t>Longer fine-tuning lifts both; the MAE edge stays inconsistent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577840" cy="292608"/>
          </a:xfrm>
          <a:prstGeom prst="roundRect">
            <a:avLst>
              <a:gd name="adj" fmla="val 50000"/>
            </a:avLst>
          </a:prstGeom>
          <a:solidFill>
            <a:srgbClr val="FFF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100" b="1">
                <a:solidFill>
                  <a:srgbClr val="9A6200"/>
                </a:solidFill>
                <a:latin typeface="Calibri"/>
              </a:rPr>
              <a:t>EXPLORATORY · designed after primary test results were seen</a:t>
            </a:r>
          </a:p>
        </p:txBody>
      </p:sp>
      <p:pic>
        <p:nvPicPr>
          <p:cNvPr id="5" name="Picture 4" descr="fig7_stages_10_50_1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5852160" cy="396911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720840" y="1783080"/>
            <a:ext cx="2377440" cy="393192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1874519"/>
            <a:ext cx="210312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F2328"/>
                </a:solidFill>
                <a:latin typeface="Cambria"/>
              </a:rPr>
              <a:t>50 epochs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2331720"/>
            <a:ext cx="2103120" cy="11887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B6470"/>
                </a:solidFill>
                <a:latin typeface="Calibri"/>
              </a:rPr>
              <a:t>CNN-MAE </a:t>
            </a:r>
            <a:r>
              <a:rPr sz="1500" b="1" i="0">
                <a:solidFill>
                  <a:srgbClr val="EB6834"/>
                </a:solidFill>
                <a:latin typeface="Calibri"/>
              </a:rPr>
              <a:t>0.3277 ± 0.0079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B6470"/>
                </a:solidFill>
                <a:latin typeface="Calibri"/>
              </a:rPr>
              <a:t>Scratch </a:t>
            </a:r>
            <a:r>
              <a:rPr sz="1500" b="1" i="0">
                <a:solidFill>
                  <a:srgbClr val="2A78D6"/>
                </a:solidFill>
                <a:latin typeface="Calibri"/>
              </a:rPr>
              <a:t>0.3227 ± 0.0024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3246120"/>
            <a:ext cx="210312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470"/>
                </a:solidFill>
                <a:latin typeface="Calibri"/>
              </a:rPr>
              <a:t>Paired Δ</a:t>
            </a:r>
          </a:p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E7B4A"/>
                </a:solidFill>
                <a:latin typeface="Calibri"/>
              </a:rPr>
              <a:t>+0.0051 ± 0.0062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4069080"/>
            <a:ext cx="2103120" cy="1554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5B6470"/>
                </a:solidFill>
                <a:latin typeface="Calibri"/>
              </a:rPr>
              <a:t>Per seed (42 / 43 / 44)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E7B4A"/>
                </a:solidFill>
                <a:latin typeface="Calibri"/>
              </a:rPr>
              <a:t>42: +0.0094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E7B4A"/>
                </a:solidFill>
                <a:latin typeface="Calibri"/>
              </a:rPr>
              <a:t>43: +0.0079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A1372E"/>
                </a:solidFill>
                <a:latin typeface="Calibri"/>
              </a:rPr>
              <a:t>44: -0.0021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35440" y="1783080"/>
            <a:ext cx="2377440" cy="393192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19" y="1874519"/>
            <a:ext cx="210312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F2328"/>
                </a:solidFill>
                <a:latin typeface="Cambria"/>
              </a:rPr>
              <a:t>100 epochs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19" y="2331720"/>
            <a:ext cx="2103120" cy="11887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B6470"/>
                </a:solidFill>
                <a:latin typeface="Calibri"/>
              </a:rPr>
              <a:t>CNN-MAE </a:t>
            </a:r>
            <a:r>
              <a:rPr sz="1500" b="1" i="0">
                <a:solidFill>
                  <a:srgbClr val="EB6834"/>
                </a:solidFill>
                <a:latin typeface="Calibri"/>
              </a:rPr>
              <a:t>0.3281 ± 0.0090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B6470"/>
                </a:solidFill>
                <a:latin typeface="Calibri"/>
              </a:rPr>
              <a:t>Scratch </a:t>
            </a:r>
            <a:r>
              <a:rPr sz="1500" b="1" i="0">
                <a:solidFill>
                  <a:srgbClr val="2A78D6"/>
                </a:solidFill>
                <a:latin typeface="Calibri"/>
              </a:rPr>
              <a:t>0.3299 ± 0.0100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19" y="3246120"/>
            <a:ext cx="210312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470"/>
                </a:solidFill>
                <a:latin typeface="Calibri"/>
              </a:rPr>
              <a:t>Paired Δ</a:t>
            </a:r>
          </a:p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A1372E"/>
                </a:solidFill>
                <a:latin typeface="Calibri"/>
              </a:rPr>
              <a:t>-0.0018 ± 0.0170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19" y="4069080"/>
            <a:ext cx="2103120" cy="1554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5B6470"/>
                </a:solidFill>
                <a:latin typeface="Calibri"/>
              </a:rPr>
              <a:t>Per seed (42 / 43 / 44)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E7B4A"/>
                </a:solidFill>
                <a:latin typeface="Calibri"/>
              </a:rPr>
              <a:t>42: +0.0088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E7B4A"/>
                </a:solidFill>
                <a:latin typeface="Calibri"/>
              </a:rPr>
              <a:t>43: +0.0071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A1372E"/>
                </a:solidFill>
                <a:latin typeface="Calibri"/>
              </a:rPr>
              <a:t>44: -0.0214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5779008"/>
            <a:ext cx="493776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B6470"/>
                </a:solidFill>
                <a:latin typeface="Calibri"/>
              </a:rPr>
              <a:t>Test macro-F1, mean ± SD over 3 seeds; Δ = CNN-MAE − scratch for the same seed.</a:t>
            </a:r>
          </a:p>
        </p:txBody>
      </p:sp>
      <p:sp>
        <p:nvSpPr>
          <p:cNvPr id="17" name="Takeaway"/>
          <p:cNvSpPr/>
          <p:nvPr/>
        </p:nvSpPr>
        <p:spPr>
          <a:xfrm>
            <a:off x="548640" y="5486400"/>
            <a:ext cx="5852160" cy="685800"/>
          </a:xfrm>
          <a:prstGeom prst="roundRect">
            <a:avLst>
              <a:gd name="adj" fmla="val 8000"/>
            </a:avLst>
          </a:prstGeom>
          <a:solidFill>
            <a:srgbClr val="E7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400" b="0">
                <a:solidFill>
                  <a:srgbClr val="1F2328"/>
                </a:solidFill>
                <a:latin typeface="Calibri"/>
              </a:rPr>
              <a:t>Every run gains +0.059 to +0.086 macro-F1 over its 10-epoch run; MAE leads in 2 of 3 seeds at both lengths.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470"/>
                </a:solidFill>
                <a:latin typeface="Calibri"/>
              </a:rPr>
              <a:t>Group 41 · 22AIE304 Deep Learning · CNN-MAE for low-label AMC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47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WRAPPING UP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F2328"/>
                </a:solidFill>
                <a:latin typeface="Cambria"/>
              </a:rPr>
              <a:t>Limitations, future work and 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611880" cy="365760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32004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A1372E"/>
                </a:solidFill>
                <a:latin typeface="Calibri"/>
              </a:rPr>
              <a:t>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3246120" cy="2971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 marL="201168" indent="-182880">
              <a:spcAft>
                <a:spcPts val="700"/>
              </a:spcAft>
              <a:buChar char="•"/>
            </a:pPr>
            <a:r>
              <a:rPr sz="1400" b="0" i="0">
                <a:solidFill>
                  <a:srgbClr val="1F2328"/>
                </a:solidFill>
                <a:latin typeface="Calibri"/>
              </a:rPr>
              <a:t>No consistent MAE advantage in the primary grid</a:t>
            </a:r>
          </a:p>
          <a:p>
            <a:pPr algn="l" marL="201168" indent="-182880">
              <a:spcAft>
                <a:spcPts val="700"/>
              </a:spcAft>
              <a:buChar char="•"/>
            </a:pPr>
            <a:r>
              <a:rPr sz="1400" b="0" i="0">
                <a:solidFill>
                  <a:srgbClr val="1F2328"/>
                </a:solidFill>
                <a:latin typeface="Calibri"/>
              </a:rPr>
              <a:t>5% gain not significant (paired p = 0.29, 3 seeds)</a:t>
            </a:r>
          </a:p>
          <a:p>
            <a:pPr algn="l" marL="201168" indent="-182880">
              <a:spcAft>
                <a:spcPts val="700"/>
              </a:spcAft>
              <a:buChar char="•"/>
            </a:pPr>
            <a:r>
              <a:rPr sz="1400" b="0" i="0">
                <a:solidFill>
                  <a:srgbClr val="1F2328"/>
                </a:solidFill>
                <a:latin typeface="Calibri"/>
              </a:rPr>
              <a:t>25% and 100%: one seed each</a:t>
            </a:r>
          </a:p>
          <a:p>
            <a:pPr algn="l" marL="201168" indent="-182880">
              <a:spcAft>
                <a:spcPts val="700"/>
              </a:spcAft>
              <a:buChar char="•"/>
            </a:pPr>
            <a:r>
              <a:rPr sz="1400" b="0" i="0">
                <a:solidFill>
                  <a:srgbClr val="1F2328"/>
                </a:solidFill>
                <a:latin typeface="Calibri"/>
              </a:rPr>
              <a:t>Longer runs: exploratory, 3 seeds, one label budget</a:t>
            </a:r>
          </a:p>
          <a:p>
            <a:pPr algn="l" marL="201168" indent="-182880">
              <a:spcAft>
                <a:spcPts val="700"/>
              </a:spcAft>
              <a:buChar char="•"/>
            </a:pPr>
            <a:r>
              <a:rPr sz="1400" b="0" i="0">
                <a:solidFill>
                  <a:srgbClr val="1F2328"/>
                </a:solidFill>
                <a:latin typeface="Calibri"/>
              </a:rPr>
              <a:t>Noisy validation (BatchNorm statistics) affects epoch selection</a:t>
            </a:r>
          </a:p>
          <a:p>
            <a:pPr algn="l" marL="201168" indent="-182880">
              <a:spcAft>
                <a:spcPts val="700"/>
              </a:spcAft>
              <a:buChar char="•"/>
            </a:pPr>
            <a:r>
              <a:rPr sz="1400" b="0" i="0">
                <a:solidFill>
                  <a:srgbClr val="1F2328"/>
                </a:solidFill>
                <a:latin typeface="Calibri"/>
              </a:rPr>
              <a:t>Benchmark data, not over-the-air deployment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611880" cy="365760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600200"/>
            <a:ext cx="32004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0E7C7B"/>
                </a:solidFill>
                <a:latin typeface="Calibri"/>
              </a:rPr>
              <a:t>Future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103120"/>
            <a:ext cx="3246120" cy="2971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 marL="201168" indent="-182880">
              <a:spcAft>
                <a:spcPts val="700"/>
              </a:spcAft>
              <a:buChar char="•"/>
            </a:pPr>
            <a:r>
              <a:rPr sz="1400" b="0" i="0">
                <a:solidFill>
                  <a:srgbClr val="1F2328"/>
                </a:solidFill>
                <a:latin typeface="Calibri"/>
              </a:rPr>
              <a:t>More paired seeds at every budget</a:t>
            </a:r>
          </a:p>
          <a:p>
            <a:pPr algn="l" marL="201168" indent="-182880">
              <a:spcAft>
                <a:spcPts val="700"/>
              </a:spcAft>
              <a:buChar char="•"/>
            </a:pPr>
            <a:r>
              <a:rPr sz="1400" b="0" i="0">
                <a:solidFill>
                  <a:srgbClr val="1F2328"/>
                </a:solidFill>
                <a:latin typeface="Calibri"/>
              </a:rPr>
              <a:t>Stabilise validation and checkpoint selection</a:t>
            </a:r>
          </a:p>
          <a:p>
            <a:pPr algn="l" marL="201168" indent="-182880">
              <a:spcAft>
                <a:spcPts val="700"/>
              </a:spcAft>
              <a:buChar char="•"/>
            </a:pPr>
            <a:r>
              <a:rPr sz="1400" b="0" i="0">
                <a:solidFill>
                  <a:srgbClr val="1F2328"/>
                </a:solidFill>
                <a:latin typeface="Calibri"/>
              </a:rPr>
              <a:t>Pre-specified study of mask ratio and pretraining length</a:t>
            </a:r>
          </a:p>
          <a:p>
            <a:pPr algn="l" marL="201168" indent="-182880">
              <a:spcAft>
                <a:spcPts val="700"/>
              </a:spcAft>
              <a:buChar char="•"/>
            </a:pPr>
            <a:r>
              <a:rPr sz="1400" b="0" i="0">
                <a:solidFill>
                  <a:srgbClr val="1F2328"/>
                </a:solidFill>
                <a:latin typeface="Calibri"/>
              </a:rPr>
              <a:t>Test whether reconstruction quality predicts accuracy</a:t>
            </a:r>
          </a:p>
          <a:p>
            <a:pPr algn="l" marL="201168" indent="-182880">
              <a:spcAft>
                <a:spcPts val="700"/>
              </a:spcAft>
              <a:buChar char="•"/>
            </a:pPr>
            <a:r>
              <a:rPr sz="1400" b="0" i="0">
                <a:solidFill>
                  <a:srgbClr val="1F2328"/>
                </a:solidFill>
                <a:latin typeface="Calibri"/>
              </a:rPr>
              <a:t>Per-SNR uncertainty estimates; controlled transfer studies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463040"/>
            <a:ext cx="3429000" cy="3657600"/>
          </a:xfrm>
          <a:prstGeom prst="roundRect">
            <a:avLst>
              <a:gd name="adj" fmla="val 8000"/>
            </a:avLst>
          </a:prstGeom>
          <a:solidFill>
            <a:srgbClr val="1F2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58200" y="1600200"/>
            <a:ext cx="301752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2103120"/>
            <a:ext cx="3017520" cy="2971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MAE pretraining gave modest gains in some settings: +0.012 macro-F1 at 5% labels, the low-SNR band at small budgets, and the 50-epoch follow-up. The evidence does not show a consistent advantage over training from scratch.</a:t>
            </a:r>
          </a:p>
        </p:txBody>
      </p:sp>
      <p:sp>
        <p:nvSpPr>
          <p:cNvPr id="13" name="Takeaway"/>
          <p:cNvSpPr/>
          <p:nvPr/>
        </p:nvSpPr>
        <p:spPr>
          <a:xfrm>
            <a:off x="548640" y="5394960"/>
            <a:ext cx="11109960" cy="731520"/>
          </a:xfrm>
          <a:prstGeom prst="roundRect">
            <a:avLst>
              <a:gd name="adj" fmla="val 8000"/>
            </a:avLst>
          </a:prstGeom>
          <a:solidFill>
            <a:srgbClr val="E7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700" b="1">
                <a:solidFill>
                  <a:srgbClr val="0E7C7B"/>
                </a:solidFill>
                <a:latin typeface="Calibri"/>
              </a:rPr>
              <a:t>Take-home: </a:t>
            </a:r>
            <a:r>
              <a:rPr sz="1700" b="0">
                <a:solidFill>
                  <a:srgbClr val="1F2328"/>
                </a:solidFill>
                <a:latin typeface="Calibri"/>
              </a:rPr>
              <a:t>with a small patch CNN, pretraining helped at the margins, but not reliably. Seeds and controls matter as much as the method.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470"/>
                </a:solidFill>
                <a:latin typeface="Calibri"/>
              </a:rPr>
              <a:t>Group 41 · 22AIE304 Deep Learning · CNN-MAE for low-label AMC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47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REFERENCES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F2328"/>
                </a:solidFill>
                <a:latin typeface="Cambria"/>
              </a:rPr>
              <a:t>References and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7680960" cy="4937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E7C7B"/>
                </a:solidFill>
                <a:latin typeface="Calibri"/>
              </a:rPr>
              <a:t>[1] </a:t>
            </a:r>
            <a:r>
              <a:rPr sz="1200" b="0" i="0">
                <a:solidFill>
                  <a:srgbClr val="1F2328"/>
                </a:solidFill>
                <a:latin typeface="Calibri"/>
              </a:rPr>
              <a:t>T. J. O'Shea, T. Roy, T. C. Clancy, "Over-the-Air Deep Learning Based Radio Signal Classification," IEEE J. Sel. Topics Signal Process., vol. 12, no. 1, pp. 168–179, 2018.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E7C7B"/>
                </a:solidFill>
                <a:latin typeface="Calibri"/>
              </a:rPr>
              <a:t>[2] </a:t>
            </a:r>
            <a:r>
              <a:rPr sz="1200" b="0" i="0">
                <a:solidFill>
                  <a:srgbClr val="1F2328"/>
                </a:solidFill>
                <a:latin typeface="Calibri"/>
              </a:rPr>
              <a:t>D. Liu, P. Wang, T. Wang, T. Abdelzaher, "Self-Contrastive Learning based Semi-Supervised Radio Modulation Classification," MILCOM 2021, pp. 777–782.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E7C7B"/>
                </a:solidFill>
                <a:latin typeface="Calibri"/>
              </a:rPr>
              <a:t>[3] </a:t>
            </a:r>
            <a:r>
              <a:rPr sz="1200" b="0" i="0">
                <a:solidFill>
                  <a:srgbClr val="1F2328"/>
                </a:solidFill>
                <a:latin typeface="Calibri"/>
              </a:rPr>
              <a:t>K. He, X. Chen, S. Xie, Y. Li, P. Dollár, R. Girshick, "Masked Autoencoders Are Scalable Vision Learners," IEEE/CVF CVPR, 2022, pp. 16000–16009.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E7C7B"/>
                </a:solidFill>
                <a:latin typeface="Calibri"/>
              </a:rPr>
              <a:t>[4] </a:t>
            </a:r>
            <a:r>
              <a:rPr sz="1200" b="0" i="0">
                <a:solidFill>
                  <a:srgbClr val="1F2328"/>
                </a:solidFill>
                <a:latin typeface="Calibri"/>
              </a:rPr>
              <a:t>W. Kong et al., "A Transformer-Based Contrastive Semi-Supervised Learning Framework for Automatic Modulation Recognition," IEEE TCCN, 2023.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E7C7B"/>
                </a:solidFill>
                <a:latin typeface="Calibri"/>
              </a:rPr>
              <a:t>[5] </a:t>
            </a:r>
            <a:r>
              <a:rPr sz="1200" b="0" i="0">
                <a:solidFill>
                  <a:srgbClr val="1F2328"/>
                </a:solidFill>
                <a:latin typeface="Calibri"/>
              </a:rPr>
              <a:t>Y. Shi et al., "GAF-MAE: A Self-Supervised AMC Method Based on Gramian Angular Field and Masked Autoencoder," IEEE TCCN, 2024.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E7C7B"/>
                </a:solidFill>
                <a:latin typeface="Calibri"/>
              </a:rPr>
              <a:t>[6] </a:t>
            </a:r>
            <a:r>
              <a:rPr sz="1200" b="0" i="0">
                <a:solidFill>
                  <a:srgbClr val="1F2328"/>
                </a:solidFill>
                <a:latin typeface="Calibri"/>
              </a:rPr>
              <a:t>C. Xiao et al., "MCLHN: Towards Automatic Modulation Classification via Masked Contrastive Learning With Hard Negatives," IEEE TWC, 2024.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E7C7B"/>
                </a:solidFill>
                <a:latin typeface="Calibri"/>
              </a:rPr>
              <a:t>[7] </a:t>
            </a:r>
            <a:r>
              <a:rPr sz="1200" b="0" i="0">
                <a:solidFill>
                  <a:srgbClr val="1F2328"/>
                </a:solidFill>
                <a:latin typeface="Calibri"/>
              </a:rPr>
              <a:t>M. Ma, S. Liu, "Refined Semi-Supervised Modulation Classification: Integrating Consistency Regularization and Pseudo-Labeling," Future Internet, vol. 16, no. 2, art. 38, 2024.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E7C7B"/>
                </a:solidFill>
                <a:latin typeface="Calibri"/>
              </a:rPr>
              <a:t>[8] </a:t>
            </a:r>
            <a:r>
              <a:rPr sz="1200" b="0" i="0">
                <a:solidFill>
                  <a:srgbClr val="1F2328"/>
                </a:solidFill>
                <a:latin typeface="Calibri"/>
              </a:rPr>
              <a:t>Y. Liu et al., "RIS-MAE: A Self-Supervised Modulation Classification Method Based on Raw IQ Signals and Masked Autoencoder," arXiv:2508.00274, 2025.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E7C7B"/>
                </a:solidFill>
                <a:latin typeface="Calibri"/>
              </a:rPr>
              <a:t>[9] </a:t>
            </a:r>
            <a:r>
              <a:rPr sz="1200" b="0" i="0">
                <a:solidFill>
                  <a:srgbClr val="1F2328"/>
                </a:solidFill>
                <a:latin typeface="Calibri"/>
              </a:rPr>
              <a:t>DeepSig Inc., RadioML 2018.01A and 2016.10a datasets, https://www.deepsig.ai/datasets/.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95360" y="1463040"/>
            <a:ext cx="3063240" cy="4572000"/>
          </a:xfrm>
          <a:prstGeom prst="roundRect">
            <a:avLst>
              <a:gd name="adj" fmla="val 8000"/>
            </a:avLst>
          </a:prstGeom>
          <a:solidFill>
            <a:srgbClr val="F2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0" y="3017520"/>
            <a:ext cx="30632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0E7C7B"/>
                </a:solidFill>
                <a:latin typeface="Cambria"/>
              </a:rPr>
              <a:t>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0" y="4023360"/>
            <a:ext cx="2697480" cy="1371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B6470"/>
                </a:solidFill>
                <a:latin typeface="Calibri"/>
              </a:rPr>
              <a:t>Live demo: Streamlit app (demo\app.py)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470"/>
                </a:solidFill>
                <a:latin typeface="Calibri"/>
              </a:rPr>
              <a:t>Group 41 · 22AIE304 Deep Learning · CNN-MAE for low-label AMC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47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Self-Supervised MAE Pretraining for Low-Label AMC (Group 41)</dc:title>
  <dc:subject/>
  <dc:creator>Group 41: P V Nekha, Vinayak S, Monish 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